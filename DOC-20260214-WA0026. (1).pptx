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7" r:id="rId12"/>
    <p:sldId id="265" r:id="rId13"/>
    <p:sldId id="268" r:id="rId14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005318-F6DD-D0D5-97EC-5317F48BB370}" v="891" dt="2026-02-14T06:30:07.16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1F27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700" y="7753348"/>
            <a:ext cx="1724025" cy="40957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0" y="0"/>
            <a:ext cx="5486400" cy="8229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1684" y="3008249"/>
            <a:ext cx="6645275" cy="701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76B8FF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76B8FF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76B8FF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76B8FF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1F27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9700" y="7753348"/>
            <a:ext cx="1724025" cy="4095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5007" y="514984"/>
            <a:ext cx="8221345" cy="1133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76B8FF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1520" y="1892808"/>
            <a:ext cx="13167360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399" cy="82295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271640" y="815932"/>
            <a:ext cx="6490970" cy="2933304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 marR="5080" algn="ctr">
              <a:lnSpc>
                <a:spcPct val="106700"/>
              </a:lnSpc>
              <a:spcBef>
                <a:spcPts val="90"/>
              </a:spcBef>
            </a:pPr>
            <a:r>
              <a:rPr sz="6000" spc="145" dirty="0"/>
              <a:t>Booking</a:t>
            </a:r>
            <a:r>
              <a:rPr sz="6000" spc="60" dirty="0"/>
              <a:t> </a:t>
            </a:r>
            <a:r>
              <a:rPr sz="6000" spc="160" dirty="0"/>
              <a:t>Website </a:t>
            </a:r>
            <a:r>
              <a:rPr sz="6000" spc="135" dirty="0"/>
              <a:t>Automation</a:t>
            </a:r>
            <a:r>
              <a:rPr sz="6000" spc="-25" dirty="0"/>
              <a:t> </a:t>
            </a:r>
            <a:r>
              <a:rPr sz="6000" spc="200" dirty="0"/>
              <a:t>Framework</a:t>
            </a:r>
            <a:endParaRPr lang="en-US" sz="6000"/>
          </a:p>
        </p:txBody>
      </p:sp>
      <p:sp>
        <p:nvSpPr>
          <p:cNvPr id="4" name="object 4"/>
          <p:cNvSpPr txBox="1"/>
          <p:nvPr/>
        </p:nvSpPr>
        <p:spPr>
          <a:xfrm>
            <a:off x="6271640" y="4572189"/>
            <a:ext cx="7172959" cy="141352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 marR="5080">
              <a:lnSpc>
                <a:spcPct val="143500"/>
              </a:lnSpc>
              <a:spcBef>
                <a:spcPts val="95"/>
              </a:spcBef>
            </a:pPr>
            <a:r>
              <a:rPr sz="2500" dirty="0">
                <a:solidFill>
                  <a:srgbClr val="D5E4EE"/>
                </a:solidFill>
                <a:latin typeface="Trebuchet MS"/>
                <a:cs typeface="Trebuchet MS"/>
              </a:rPr>
              <a:t>Airbnb</a:t>
            </a:r>
            <a:r>
              <a:rPr lang="en-US" sz="250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D5E4EE"/>
                </a:solidFill>
                <a:latin typeface="Trebuchet MS"/>
                <a:cs typeface="Trebuchet MS"/>
              </a:rPr>
              <a:t>Booking</a:t>
            </a:r>
            <a:r>
              <a:rPr sz="2000" spc="2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D5E4EE"/>
                </a:solidFill>
                <a:latin typeface="Trebuchet MS"/>
                <a:cs typeface="Trebuchet MS"/>
              </a:rPr>
              <a:t>automation</a:t>
            </a:r>
            <a:r>
              <a:rPr sz="2000" spc="3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rgbClr val="D5E4EE"/>
                </a:solidFill>
                <a:latin typeface="Trebuchet MS"/>
                <a:cs typeface="Trebuchet MS"/>
              </a:rPr>
              <a:t>built</a:t>
            </a:r>
            <a:r>
              <a:rPr sz="2000" spc="5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rgbClr val="D5E4EE"/>
                </a:solidFill>
                <a:latin typeface="Trebuchet MS"/>
                <a:cs typeface="Trebuchet MS"/>
              </a:rPr>
              <a:t>with</a:t>
            </a:r>
            <a:r>
              <a:rPr sz="2000" spc="-4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endParaRPr lang="en-US" sz="2000">
              <a:solidFill>
                <a:srgbClr val="000000"/>
              </a:solidFill>
              <a:latin typeface="Trebuchet MS"/>
              <a:cs typeface="Trebuchet MS"/>
            </a:endParaRPr>
          </a:p>
          <a:p>
            <a:pPr marL="12700" marR="5080">
              <a:lnSpc>
                <a:spcPct val="143500"/>
              </a:lnSpc>
              <a:spcBef>
                <a:spcPts val="95"/>
              </a:spcBef>
            </a:pPr>
            <a:r>
              <a:rPr sz="2000" dirty="0">
                <a:solidFill>
                  <a:srgbClr val="D5E4EE"/>
                </a:solidFill>
                <a:latin typeface="Trebuchet MS"/>
                <a:cs typeface="Trebuchet MS"/>
              </a:rPr>
              <a:t>Selenium,</a:t>
            </a:r>
            <a:r>
              <a:rPr sz="2000" spc="5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D5E4EE"/>
                </a:solidFill>
                <a:latin typeface="Trebuchet MS"/>
                <a:cs typeface="Trebuchet MS"/>
              </a:rPr>
              <a:t>TestNG,</a:t>
            </a:r>
            <a:r>
              <a:rPr sz="2000" spc="5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D5E4EE"/>
                </a:solidFill>
                <a:latin typeface="Trebuchet MS"/>
                <a:cs typeface="Trebuchet MS"/>
              </a:rPr>
              <a:t>Cucumber</a:t>
            </a:r>
            <a:r>
              <a:rPr sz="2000" spc="3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D5E4EE"/>
                </a:solidFill>
                <a:latin typeface="Trebuchet MS"/>
                <a:cs typeface="Trebuchet MS"/>
              </a:rPr>
              <a:t>BDD, </a:t>
            </a:r>
            <a:r>
              <a:rPr sz="2000" spc="50" dirty="0">
                <a:solidFill>
                  <a:srgbClr val="D5E4EE"/>
                </a:solidFill>
                <a:latin typeface="Trebuchet MS"/>
                <a:cs typeface="Trebuchet MS"/>
              </a:rPr>
              <a:t>POM,</a:t>
            </a:r>
            <a:r>
              <a:rPr sz="2000" spc="1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D5E4EE"/>
                </a:solidFill>
                <a:latin typeface="Trebuchet MS"/>
                <a:cs typeface="Trebuchet MS"/>
              </a:rPr>
              <a:t>Allure</a:t>
            </a:r>
            <a:r>
              <a:rPr sz="2000" spc="-4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D5E4EE"/>
                </a:solidFill>
                <a:latin typeface="Trebuchet MS"/>
                <a:cs typeface="Trebuchet MS"/>
              </a:rPr>
              <a:t>Reports,</a:t>
            </a:r>
            <a:r>
              <a:rPr sz="2000" spc="-6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D5E4EE"/>
                </a:solidFill>
                <a:latin typeface="Trebuchet MS"/>
                <a:cs typeface="Trebuchet MS"/>
              </a:rPr>
              <a:t>Log4j2</a:t>
            </a:r>
            <a:r>
              <a:rPr sz="2000" spc="-2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2000" spc="55" dirty="0">
                <a:solidFill>
                  <a:srgbClr val="D5E4EE"/>
                </a:solidFill>
                <a:latin typeface="Trebuchet MS"/>
                <a:cs typeface="Trebuchet MS"/>
              </a:rPr>
              <a:t>using</a:t>
            </a:r>
            <a:r>
              <a:rPr sz="2000" spc="-1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2000" spc="60" dirty="0">
                <a:solidFill>
                  <a:srgbClr val="D5E4EE"/>
                </a:solidFill>
                <a:latin typeface="Trebuchet MS"/>
                <a:cs typeface="Trebuchet MS"/>
              </a:rPr>
              <a:t>Java</a:t>
            </a:r>
            <a:r>
              <a:rPr sz="2000" spc="-6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2000" spc="85" dirty="0">
                <a:solidFill>
                  <a:srgbClr val="D5E4EE"/>
                </a:solidFill>
                <a:latin typeface="Trebuchet MS"/>
                <a:cs typeface="Trebuchet MS"/>
              </a:rPr>
              <a:t>+</a:t>
            </a:r>
            <a:r>
              <a:rPr sz="2000" spc="-3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D5E4EE"/>
                </a:solidFill>
                <a:latin typeface="Trebuchet MS"/>
                <a:cs typeface="Trebuchet MS"/>
              </a:rPr>
              <a:t>Maven.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43EAB7-C747-6F44-AC01-7EDF1089C9B6}"/>
              </a:ext>
            </a:extLst>
          </p:cNvPr>
          <p:cNvSpPr txBox="1"/>
          <p:nvPr/>
        </p:nvSpPr>
        <p:spPr>
          <a:xfrm>
            <a:off x="12576517" y="6661052"/>
            <a:ext cx="2518117" cy="877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7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Apoorv Vikram Singh</a:t>
            </a:r>
            <a:endParaRPr lang="en-US" dirty="0">
              <a:solidFill>
                <a:schemeClr val="bg1"/>
              </a:solidFill>
            </a:endParaRPr>
          </a:p>
          <a:p>
            <a:pPr algn="l"/>
            <a:r>
              <a:rPr lang="en-US" sz="17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Coforge</a:t>
            </a:r>
            <a:r>
              <a:rPr lang="en-US" sz="17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GET </a:t>
            </a:r>
            <a:endParaRPr lang="en-US" dirty="0">
              <a:solidFill>
                <a:schemeClr val="bg1"/>
              </a:solidFill>
            </a:endParaRPr>
          </a:p>
          <a:p>
            <a:pPr algn="l"/>
            <a:r>
              <a:rPr lang="en-US" sz="17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50045791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399" cy="82295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271640" y="1994788"/>
            <a:ext cx="441833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spc="140" dirty="0"/>
              <a:t>Project</a:t>
            </a:r>
            <a:r>
              <a:rPr sz="4400" spc="35" dirty="0"/>
              <a:t> </a:t>
            </a:r>
            <a:r>
              <a:rPr sz="4400" spc="60" dirty="0"/>
              <a:t>Objective</a:t>
            </a:r>
            <a:endParaRPr sz="4400"/>
          </a:p>
        </p:txBody>
      </p:sp>
      <p:sp>
        <p:nvSpPr>
          <p:cNvPr id="4" name="object 4"/>
          <p:cNvSpPr/>
          <p:nvPr/>
        </p:nvSpPr>
        <p:spPr>
          <a:xfrm>
            <a:off x="6276975" y="3086100"/>
            <a:ext cx="2371725" cy="3554854"/>
          </a:xfrm>
          <a:custGeom>
            <a:avLst/>
            <a:gdLst/>
            <a:ahLst/>
            <a:cxnLst/>
            <a:rect l="l" t="t" r="r" b="b"/>
            <a:pathLst>
              <a:path w="2371725" h="3105150">
                <a:moveTo>
                  <a:pt x="2337689" y="0"/>
                </a:moveTo>
                <a:lnTo>
                  <a:pt x="34036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3071114"/>
                </a:lnTo>
                <a:lnTo>
                  <a:pt x="2674" y="3084361"/>
                </a:lnTo>
                <a:lnTo>
                  <a:pt x="9969" y="3095180"/>
                </a:lnTo>
                <a:lnTo>
                  <a:pt x="20788" y="3102475"/>
                </a:lnTo>
                <a:lnTo>
                  <a:pt x="34036" y="3105150"/>
                </a:lnTo>
                <a:lnTo>
                  <a:pt x="2337689" y="3105150"/>
                </a:lnTo>
                <a:lnTo>
                  <a:pt x="2350936" y="3102475"/>
                </a:lnTo>
                <a:lnTo>
                  <a:pt x="2361755" y="3095180"/>
                </a:lnTo>
                <a:lnTo>
                  <a:pt x="2369050" y="3084361"/>
                </a:lnTo>
                <a:lnTo>
                  <a:pt x="2371725" y="3071114"/>
                </a:lnTo>
                <a:lnTo>
                  <a:pt x="2371725" y="34036"/>
                </a:lnTo>
                <a:lnTo>
                  <a:pt x="2369050" y="20788"/>
                </a:lnTo>
                <a:lnTo>
                  <a:pt x="2361755" y="9969"/>
                </a:lnTo>
                <a:lnTo>
                  <a:pt x="2350936" y="2674"/>
                </a:lnTo>
                <a:lnTo>
                  <a:pt x="2337689" y="0"/>
                </a:lnTo>
                <a:close/>
              </a:path>
            </a:pathLst>
          </a:custGeom>
          <a:solidFill>
            <a:srgbClr val="3E4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98590" y="3270440"/>
            <a:ext cx="1668780" cy="270002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 marR="327660">
              <a:lnSpc>
                <a:spcPct val="107600"/>
              </a:lnSpc>
              <a:spcBef>
                <a:spcPts val="95"/>
              </a:spcBef>
            </a:pPr>
            <a:r>
              <a:rPr sz="2150" spc="70" dirty="0">
                <a:solidFill>
                  <a:srgbClr val="D5E4EE"/>
                </a:solidFill>
                <a:latin typeface="Palatino Linotype"/>
                <a:cs typeface="Palatino Linotype"/>
              </a:rPr>
              <a:t>Automate </a:t>
            </a:r>
            <a:r>
              <a:rPr sz="2150" dirty="0">
                <a:solidFill>
                  <a:srgbClr val="D5E4EE"/>
                </a:solidFill>
                <a:latin typeface="Palatino Linotype"/>
                <a:cs typeface="Palatino Linotype"/>
              </a:rPr>
              <a:t>Core </a:t>
            </a:r>
            <a:r>
              <a:rPr sz="2150" spc="75" dirty="0">
                <a:solidFill>
                  <a:srgbClr val="D5E4EE"/>
                </a:solidFill>
                <a:latin typeface="Palatino Linotype"/>
                <a:cs typeface="Palatino Linotype"/>
              </a:rPr>
              <a:t>Flow</a:t>
            </a:r>
            <a:endParaRPr sz="2150">
              <a:latin typeface="Palatino Linotype"/>
              <a:cs typeface="Palatino Linotype"/>
            </a:endParaRPr>
          </a:p>
          <a:p>
            <a:pPr marL="12700" marR="5080">
              <a:lnSpc>
                <a:spcPct val="142600"/>
              </a:lnSpc>
              <a:spcBef>
                <a:spcPts val="960"/>
              </a:spcBef>
            </a:pP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Search,</a:t>
            </a:r>
            <a:r>
              <a:rPr sz="1700" spc="-8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20" dirty="0">
                <a:solidFill>
                  <a:srgbClr val="D5E4EE"/>
                </a:solidFill>
                <a:latin typeface="Trebuchet MS"/>
                <a:cs typeface="Trebuchet MS"/>
              </a:rPr>
              <a:t>date 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selection</a:t>
            </a:r>
            <a:r>
              <a:rPr sz="1700" spc="1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and</a:t>
            </a:r>
            <a:r>
              <a:rPr sz="1700" spc="-2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results validation</a:t>
            </a:r>
            <a:r>
              <a:rPr sz="1700" spc="-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on </a:t>
            </a:r>
            <a:r>
              <a:rPr sz="1700" spc="-50" dirty="0">
                <a:solidFill>
                  <a:srgbClr val="D5E4EE"/>
                </a:solidFill>
                <a:latin typeface="Trebuchet MS"/>
                <a:cs typeface="Trebuchet MS"/>
              </a:rPr>
              <a:t>a </a:t>
            </a: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booking</a:t>
            </a:r>
            <a:r>
              <a:rPr sz="1700" spc="19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20" dirty="0">
                <a:solidFill>
                  <a:srgbClr val="D5E4EE"/>
                </a:solidFill>
                <a:latin typeface="Trebuchet MS"/>
                <a:cs typeface="Trebuchet MS"/>
              </a:rPr>
              <a:t>site.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877300" y="3086100"/>
            <a:ext cx="2362200" cy="3554854"/>
          </a:xfrm>
          <a:custGeom>
            <a:avLst/>
            <a:gdLst/>
            <a:ahLst/>
            <a:cxnLst/>
            <a:rect l="l" t="t" r="r" b="b"/>
            <a:pathLst>
              <a:path w="2362200" h="3105150">
                <a:moveTo>
                  <a:pt x="2328291" y="0"/>
                </a:moveTo>
                <a:lnTo>
                  <a:pt x="33908" y="0"/>
                </a:lnTo>
                <a:lnTo>
                  <a:pt x="20734" y="2672"/>
                </a:lnTo>
                <a:lnTo>
                  <a:pt x="9953" y="9953"/>
                </a:lnTo>
                <a:lnTo>
                  <a:pt x="2672" y="20734"/>
                </a:lnTo>
                <a:lnTo>
                  <a:pt x="0" y="33909"/>
                </a:lnTo>
                <a:lnTo>
                  <a:pt x="0" y="3071241"/>
                </a:lnTo>
                <a:lnTo>
                  <a:pt x="2672" y="3084415"/>
                </a:lnTo>
                <a:lnTo>
                  <a:pt x="9953" y="3095196"/>
                </a:lnTo>
                <a:lnTo>
                  <a:pt x="20734" y="3102477"/>
                </a:lnTo>
                <a:lnTo>
                  <a:pt x="33908" y="3105150"/>
                </a:lnTo>
                <a:lnTo>
                  <a:pt x="2328291" y="3105150"/>
                </a:lnTo>
                <a:lnTo>
                  <a:pt x="2341465" y="3102477"/>
                </a:lnTo>
                <a:lnTo>
                  <a:pt x="2352246" y="3095196"/>
                </a:lnTo>
                <a:lnTo>
                  <a:pt x="2359527" y="3084415"/>
                </a:lnTo>
                <a:lnTo>
                  <a:pt x="2362200" y="3071241"/>
                </a:lnTo>
                <a:lnTo>
                  <a:pt x="2362200" y="33909"/>
                </a:lnTo>
                <a:lnTo>
                  <a:pt x="2359527" y="20734"/>
                </a:lnTo>
                <a:lnTo>
                  <a:pt x="2352246" y="9953"/>
                </a:lnTo>
                <a:lnTo>
                  <a:pt x="2341465" y="2672"/>
                </a:lnTo>
                <a:lnTo>
                  <a:pt x="2328291" y="0"/>
                </a:lnTo>
                <a:close/>
              </a:path>
            </a:pathLst>
          </a:custGeom>
          <a:solidFill>
            <a:srgbClr val="3E4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094469" y="3270440"/>
            <a:ext cx="1639300" cy="2955233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 marR="38100">
              <a:lnSpc>
                <a:spcPct val="107600"/>
              </a:lnSpc>
              <a:spcBef>
                <a:spcPts val="95"/>
              </a:spcBef>
            </a:pPr>
            <a:r>
              <a:rPr sz="2150" spc="100" dirty="0">
                <a:solidFill>
                  <a:srgbClr val="D5E4EE"/>
                </a:solidFill>
                <a:latin typeface="Palatino Linotype"/>
                <a:cs typeface="Palatino Linotype"/>
              </a:rPr>
              <a:t>Framework</a:t>
            </a:r>
            <a:endParaRPr sz="2150" dirty="0">
              <a:latin typeface="Palatino Linotype"/>
              <a:cs typeface="Palatino Linotype"/>
            </a:endParaRPr>
          </a:p>
          <a:p>
            <a:pPr marL="12700" marR="5080" algn="l">
              <a:lnSpc>
                <a:spcPct val="142600"/>
              </a:lnSpc>
              <a:spcBef>
                <a:spcPts val="960"/>
              </a:spcBef>
            </a:pPr>
            <a:r>
              <a:rPr sz="1700" spc="-20" dirty="0">
                <a:solidFill>
                  <a:srgbClr val="D5E4EE"/>
                </a:solidFill>
                <a:latin typeface="Trebuchet MS"/>
                <a:cs typeface="Trebuchet MS"/>
              </a:rPr>
              <a:t>Deliver</a:t>
            </a:r>
            <a:r>
              <a:rPr sz="1700" spc="-9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readable </a:t>
            </a:r>
            <a:r>
              <a:rPr sz="1700" spc="-20" dirty="0">
                <a:solidFill>
                  <a:srgbClr val="D5E4EE"/>
                </a:solidFill>
                <a:latin typeface="Trebuchet MS"/>
                <a:cs typeface="Trebuchet MS"/>
              </a:rPr>
              <a:t>tests,</a:t>
            </a:r>
            <a:r>
              <a:rPr sz="1700" spc="-6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reusable components, </a:t>
            </a:r>
            <a:endParaRPr lang="en-US" sz="1700">
              <a:solidFill>
                <a:srgbClr val="000000"/>
              </a:solidFill>
              <a:latin typeface="Trebuchet MS"/>
              <a:cs typeface="Trebuchet MS"/>
            </a:endParaRPr>
          </a:p>
          <a:p>
            <a:pPr marL="12700" marR="5080" algn="l">
              <a:lnSpc>
                <a:spcPct val="142600"/>
              </a:lnSpc>
              <a:spcBef>
                <a:spcPts val="960"/>
              </a:spcBef>
            </a:pPr>
            <a:r>
              <a:rPr lang="en-US" sz="1700" spc="-10" dirty="0">
                <a:solidFill>
                  <a:srgbClr val="D5E4EE"/>
                </a:solidFill>
                <a:latin typeface="Trebuchet MS"/>
                <a:cs typeface="Trebuchet MS"/>
              </a:rPr>
              <a:t>Reports,</a:t>
            </a:r>
            <a:endParaRPr lang="en-US" sz="1700" dirty="0">
              <a:solidFill>
                <a:srgbClr val="000000"/>
              </a:solidFill>
              <a:latin typeface="Trebuchet MS"/>
              <a:cs typeface="Trebuchet MS"/>
            </a:endParaRPr>
          </a:p>
          <a:p>
            <a:pPr marL="12700" marR="5080" algn="l">
              <a:lnSpc>
                <a:spcPct val="142600"/>
              </a:lnSpc>
              <a:spcBef>
                <a:spcPts val="960"/>
              </a:spcBef>
            </a:pPr>
            <a:r>
              <a:rPr lang="en-US" sz="1700" spc="-10" dirty="0">
                <a:solidFill>
                  <a:srgbClr val="D5E4EE"/>
                </a:solidFill>
                <a:latin typeface="Trebuchet MS"/>
                <a:cs typeface="Trebuchet MS"/>
              </a:rPr>
              <a:t> </a:t>
            </a: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screenshots,</a:t>
            </a:r>
            <a:r>
              <a:rPr sz="1700" spc="27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D5E4EE"/>
                </a:solidFill>
                <a:latin typeface="Trebuchet MS"/>
                <a:cs typeface="Trebuchet MS"/>
              </a:rPr>
              <a:t>and 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logs.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468100" y="3086100"/>
            <a:ext cx="2371725" cy="3554854"/>
          </a:xfrm>
          <a:custGeom>
            <a:avLst/>
            <a:gdLst/>
            <a:ahLst/>
            <a:cxnLst/>
            <a:rect l="l" t="t" r="r" b="b"/>
            <a:pathLst>
              <a:path w="2371725" h="3105150">
                <a:moveTo>
                  <a:pt x="2337688" y="0"/>
                </a:moveTo>
                <a:lnTo>
                  <a:pt x="34035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3071114"/>
                </a:lnTo>
                <a:lnTo>
                  <a:pt x="2674" y="3084361"/>
                </a:lnTo>
                <a:lnTo>
                  <a:pt x="9969" y="3095180"/>
                </a:lnTo>
                <a:lnTo>
                  <a:pt x="20788" y="3102475"/>
                </a:lnTo>
                <a:lnTo>
                  <a:pt x="34035" y="3105150"/>
                </a:lnTo>
                <a:lnTo>
                  <a:pt x="2337688" y="3105150"/>
                </a:lnTo>
                <a:lnTo>
                  <a:pt x="2350936" y="3102475"/>
                </a:lnTo>
                <a:lnTo>
                  <a:pt x="2361755" y="3095180"/>
                </a:lnTo>
                <a:lnTo>
                  <a:pt x="2369050" y="3084361"/>
                </a:lnTo>
                <a:lnTo>
                  <a:pt x="2371725" y="3071114"/>
                </a:lnTo>
                <a:lnTo>
                  <a:pt x="2371725" y="34036"/>
                </a:lnTo>
                <a:lnTo>
                  <a:pt x="2369050" y="20788"/>
                </a:lnTo>
                <a:lnTo>
                  <a:pt x="2361755" y="9969"/>
                </a:lnTo>
                <a:lnTo>
                  <a:pt x="2350936" y="2674"/>
                </a:lnTo>
                <a:lnTo>
                  <a:pt x="2337688" y="0"/>
                </a:lnTo>
                <a:close/>
              </a:path>
            </a:pathLst>
          </a:custGeom>
          <a:solidFill>
            <a:srgbClr val="3E4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690731" y="3270440"/>
            <a:ext cx="1889125" cy="3045129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 marR="654685">
              <a:lnSpc>
                <a:spcPct val="107600"/>
              </a:lnSpc>
              <a:spcBef>
                <a:spcPts val="95"/>
              </a:spcBef>
            </a:pPr>
            <a:r>
              <a:rPr sz="2150" spc="100" dirty="0">
                <a:solidFill>
                  <a:srgbClr val="D5E4EE"/>
                </a:solidFill>
                <a:latin typeface="Palatino Linotype"/>
                <a:cs typeface="Palatino Linotype"/>
              </a:rPr>
              <a:t>Tools</a:t>
            </a:r>
            <a:r>
              <a:rPr sz="2150" spc="30" dirty="0">
                <a:solidFill>
                  <a:srgbClr val="D5E4EE"/>
                </a:solidFill>
                <a:latin typeface="Palatino Linotype"/>
                <a:cs typeface="Palatino Linotype"/>
              </a:rPr>
              <a:t> </a:t>
            </a:r>
            <a:r>
              <a:rPr sz="2150" spc="-370" dirty="0">
                <a:solidFill>
                  <a:srgbClr val="D5E4EE"/>
                </a:solidFill>
                <a:latin typeface="Palatino Linotype"/>
                <a:cs typeface="Palatino Linotype"/>
              </a:rPr>
              <a:t>&amp;</a:t>
            </a:r>
            <a:r>
              <a:rPr sz="2150" spc="110" dirty="0">
                <a:solidFill>
                  <a:srgbClr val="D5E4EE"/>
                </a:solidFill>
                <a:latin typeface="Palatino Linotype"/>
                <a:cs typeface="Palatino Linotype"/>
              </a:rPr>
              <a:t> Practices</a:t>
            </a:r>
            <a:endParaRPr sz="2150">
              <a:latin typeface="Palatino Linotype"/>
              <a:cs typeface="Palatino Linotype"/>
            </a:endParaRPr>
          </a:p>
          <a:p>
            <a:pPr marL="12700" marR="321945">
              <a:lnSpc>
                <a:spcPct val="143500"/>
              </a:lnSpc>
              <a:spcBef>
                <a:spcPts val="940"/>
              </a:spcBef>
            </a:pPr>
            <a:r>
              <a:rPr lang="en-US" sz="1700" dirty="0">
                <a:solidFill>
                  <a:srgbClr val="D5E4EE"/>
                </a:solidFill>
                <a:latin typeface="Trebuchet MS"/>
                <a:cs typeface="Trebuchet MS"/>
              </a:rPr>
              <a:t>Java ,Cucumber</a:t>
            </a:r>
            <a:r>
              <a:rPr sz="1700" spc="24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20" dirty="0">
                <a:solidFill>
                  <a:srgbClr val="D5E4EE"/>
                </a:solidFill>
                <a:latin typeface="Trebuchet MS"/>
                <a:cs typeface="Trebuchet MS"/>
              </a:rPr>
              <a:t>BDD, </a:t>
            </a:r>
            <a:r>
              <a:rPr sz="1700" spc="50" dirty="0">
                <a:solidFill>
                  <a:srgbClr val="D5E4EE"/>
                </a:solidFill>
                <a:latin typeface="Trebuchet MS"/>
                <a:cs typeface="Trebuchet MS"/>
              </a:rPr>
              <a:t>POM,</a:t>
            </a:r>
            <a:r>
              <a:rPr sz="1700" spc="-2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TestNG,</a:t>
            </a:r>
            <a:endParaRPr sz="1700">
              <a:latin typeface="Trebuchet MS"/>
              <a:cs typeface="Trebuchet MS"/>
            </a:endParaRPr>
          </a:p>
          <a:p>
            <a:pPr marL="12700" marR="5080">
              <a:lnSpc>
                <a:spcPts val="2930"/>
              </a:lnSpc>
              <a:spcBef>
                <a:spcPts val="25"/>
              </a:spcBef>
            </a:pPr>
            <a:r>
              <a:rPr sz="1700" spc="-50" dirty="0">
                <a:solidFill>
                  <a:srgbClr val="D5E4EE"/>
                </a:solidFill>
                <a:latin typeface="Trebuchet MS"/>
                <a:cs typeface="Trebuchet MS"/>
              </a:rPr>
              <a:t>Allure,</a:t>
            </a:r>
            <a:r>
              <a:rPr sz="1700" spc="1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Log4j2</a:t>
            </a:r>
            <a:r>
              <a:rPr sz="1700" spc="7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D5E4EE"/>
                </a:solidFill>
                <a:latin typeface="Trebuchet MS"/>
                <a:cs typeface="Trebuchet MS"/>
              </a:rPr>
              <a:t>for </a:t>
            </a:r>
            <a:r>
              <a:rPr sz="1700" spc="-20" dirty="0">
                <a:solidFill>
                  <a:srgbClr val="D5E4EE"/>
                </a:solidFill>
                <a:latin typeface="Trebuchet MS"/>
                <a:cs typeface="Trebuchet MS"/>
              </a:rPr>
              <a:t>maintainability</a:t>
            </a:r>
            <a:r>
              <a:rPr sz="1700" spc="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D5E4EE"/>
                </a:solidFill>
                <a:latin typeface="Trebuchet MS"/>
                <a:cs typeface="Trebuchet MS"/>
              </a:rPr>
              <a:t>and 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visibility.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05"/>
              </a:spcBef>
            </a:pPr>
            <a:r>
              <a:rPr spc="140" dirty="0"/>
              <a:t>Tools</a:t>
            </a:r>
            <a:r>
              <a:rPr spc="10" dirty="0"/>
              <a:t> </a:t>
            </a:r>
            <a:r>
              <a:rPr spc="-620" dirty="0"/>
              <a:t>&amp;</a:t>
            </a:r>
            <a:r>
              <a:rPr spc="5" dirty="0"/>
              <a:t> </a:t>
            </a:r>
            <a:r>
              <a:rPr spc="150" dirty="0"/>
              <a:t>Technologies</a:t>
            </a:r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475" y="1790700"/>
            <a:ext cx="4257675" cy="56769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555981" y="2369232"/>
            <a:ext cx="489584" cy="347980"/>
          </a:xfrm>
          <a:custGeom>
            <a:avLst/>
            <a:gdLst/>
            <a:ahLst/>
            <a:cxnLst/>
            <a:rect l="l" t="t" r="r" b="b"/>
            <a:pathLst>
              <a:path w="489585" h="347980">
                <a:moveTo>
                  <a:pt x="0" y="162552"/>
                </a:moveTo>
                <a:lnTo>
                  <a:pt x="21967" y="152754"/>
                </a:lnTo>
                <a:lnTo>
                  <a:pt x="35145" y="146622"/>
                </a:lnTo>
                <a:lnTo>
                  <a:pt x="42274" y="142922"/>
                </a:lnTo>
                <a:lnTo>
                  <a:pt x="46094" y="140419"/>
                </a:lnTo>
              </a:path>
              <a:path w="489585" h="347980">
                <a:moveTo>
                  <a:pt x="171156" y="14376"/>
                </a:moveTo>
                <a:lnTo>
                  <a:pt x="185998" y="0"/>
                </a:lnTo>
              </a:path>
              <a:path w="489585" h="347980">
                <a:moveTo>
                  <a:pt x="420555" y="346981"/>
                </a:moveTo>
                <a:lnTo>
                  <a:pt x="408287" y="303381"/>
                </a:lnTo>
                <a:lnTo>
                  <a:pt x="381829" y="269395"/>
                </a:lnTo>
                <a:lnTo>
                  <a:pt x="356388" y="246680"/>
                </a:lnTo>
                <a:lnTo>
                  <a:pt x="354389" y="246513"/>
                </a:lnTo>
              </a:path>
              <a:path w="489585" h="347980">
                <a:moveTo>
                  <a:pt x="234262" y="255270"/>
                </a:moveTo>
                <a:lnTo>
                  <a:pt x="229537" y="255929"/>
                </a:lnTo>
              </a:path>
              <a:path w="489585" h="347980">
                <a:moveTo>
                  <a:pt x="168784" y="263075"/>
                </a:moveTo>
                <a:lnTo>
                  <a:pt x="144970" y="239618"/>
                </a:lnTo>
                <a:lnTo>
                  <a:pt x="131407" y="226829"/>
                </a:lnTo>
                <a:lnTo>
                  <a:pt x="124571" y="221346"/>
                </a:lnTo>
                <a:lnTo>
                  <a:pt x="120935" y="219807"/>
                </a:lnTo>
              </a:path>
              <a:path w="489585" h="347980">
                <a:moveTo>
                  <a:pt x="47435" y="217081"/>
                </a:moveTo>
                <a:lnTo>
                  <a:pt x="44410" y="216456"/>
                </a:lnTo>
                <a:lnTo>
                  <a:pt x="42859" y="215707"/>
                </a:lnTo>
                <a:lnTo>
                  <a:pt x="40434" y="213556"/>
                </a:lnTo>
                <a:lnTo>
                  <a:pt x="0" y="162552"/>
                </a:lnTo>
              </a:path>
              <a:path w="489585" h="347980">
                <a:moveTo>
                  <a:pt x="439837" y="194066"/>
                </a:moveTo>
                <a:lnTo>
                  <a:pt x="430068" y="153442"/>
                </a:lnTo>
                <a:lnTo>
                  <a:pt x="400732" y="121248"/>
                </a:lnTo>
                <a:lnTo>
                  <a:pt x="370627" y="109403"/>
                </a:lnTo>
                <a:lnTo>
                  <a:pt x="357886" y="105296"/>
                </a:lnTo>
              </a:path>
              <a:path w="489585" h="347980">
                <a:moveTo>
                  <a:pt x="185998" y="0"/>
                </a:moveTo>
                <a:lnTo>
                  <a:pt x="185852" y="69633"/>
                </a:lnTo>
              </a:path>
              <a:path w="489585" h="347980">
                <a:moveTo>
                  <a:pt x="455664" y="347918"/>
                </a:moveTo>
                <a:lnTo>
                  <a:pt x="439837" y="194066"/>
                </a:lnTo>
              </a:path>
              <a:path w="489585" h="347980">
                <a:moveTo>
                  <a:pt x="455664" y="347918"/>
                </a:moveTo>
                <a:lnTo>
                  <a:pt x="420555" y="346981"/>
                </a:lnTo>
              </a:path>
              <a:path w="489585" h="347980">
                <a:moveTo>
                  <a:pt x="229537" y="255929"/>
                </a:moveTo>
                <a:lnTo>
                  <a:pt x="181439" y="347238"/>
                </a:lnTo>
              </a:path>
              <a:path w="489585" h="347980">
                <a:moveTo>
                  <a:pt x="181439" y="347238"/>
                </a:moveTo>
                <a:lnTo>
                  <a:pt x="138670" y="347474"/>
                </a:lnTo>
              </a:path>
              <a:path w="489585" h="347980">
                <a:moveTo>
                  <a:pt x="168784" y="263075"/>
                </a:moveTo>
                <a:lnTo>
                  <a:pt x="138670" y="347474"/>
                </a:lnTo>
              </a:path>
              <a:path w="489585" h="347980">
                <a:moveTo>
                  <a:pt x="489517" y="109002"/>
                </a:moveTo>
                <a:lnTo>
                  <a:pt x="433953" y="163842"/>
                </a:lnTo>
              </a:path>
              <a:path w="489585" h="347980">
                <a:moveTo>
                  <a:pt x="270010" y="49283"/>
                </a:moveTo>
                <a:lnTo>
                  <a:pt x="249479" y="71118"/>
                </a:lnTo>
              </a:path>
              <a:path w="489585" h="347980">
                <a:moveTo>
                  <a:pt x="46094" y="140419"/>
                </a:moveTo>
                <a:lnTo>
                  <a:pt x="171156" y="14376"/>
                </a:lnTo>
              </a:path>
              <a:path w="489585" h="347980">
                <a:moveTo>
                  <a:pt x="232361" y="24874"/>
                </a:moveTo>
                <a:lnTo>
                  <a:pt x="208722" y="57949"/>
                </a:lnTo>
              </a:path>
              <a:path w="489585" h="347980">
                <a:moveTo>
                  <a:pt x="354389" y="246513"/>
                </a:moveTo>
                <a:lnTo>
                  <a:pt x="234262" y="255270"/>
                </a:lnTo>
              </a:path>
              <a:path w="489585" h="347980">
                <a:moveTo>
                  <a:pt x="357886" y="105296"/>
                </a:moveTo>
                <a:lnTo>
                  <a:pt x="185859" y="48818"/>
                </a:lnTo>
              </a:path>
              <a:path w="489585" h="347980">
                <a:moveTo>
                  <a:pt x="120935" y="219807"/>
                </a:moveTo>
                <a:lnTo>
                  <a:pt x="47435" y="217081"/>
                </a:lnTo>
              </a:path>
            </a:pathLst>
          </a:custGeom>
          <a:ln w="21681">
            <a:solidFill>
              <a:srgbClr val="66A8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57580" y="3554410"/>
            <a:ext cx="486409" cy="530225"/>
          </a:xfrm>
          <a:custGeom>
            <a:avLst/>
            <a:gdLst/>
            <a:ahLst/>
            <a:cxnLst/>
            <a:rect l="l" t="t" r="r" b="b"/>
            <a:pathLst>
              <a:path w="486410" h="530225">
                <a:moveTo>
                  <a:pt x="251545" y="0"/>
                </a:moveTo>
                <a:lnTo>
                  <a:pt x="234594" y="0"/>
                </a:lnTo>
                <a:lnTo>
                  <a:pt x="226856" y="5385"/>
                </a:lnTo>
                <a:lnTo>
                  <a:pt x="223171" y="13989"/>
                </a:lnTo>
                <a:lnTo>
                  <a:pt x="159976" y="160331"/>
                </a:lnTo>
                <a:lnTo>
                  <a:pt x="10556" y="185189"/>
                </a:lnTo>
                <a:lnTo>
                  <a:pt x="0" y="207563"/>
                </a:lnTo>
                <a:lnTo>
                  <a:pt x="607" y="214312"/>
                </a:lnTo>
                <a:lnTo>
                  <a:pt x="2803" y="220613"/>
                </a:lnTo>
                <a:lnTo>
                  <a:pt x="6503" y="226107"/>
                </a:lnTo>
                <a:lnTo>
                  <a:pt x="108854" y="340135"/>
                </a:lnTo>
                <a:lnTo>
                  <a:pt x="84715" y="501196"/>
                </a:lnTo>
                <a:lnTo>
                  <a:pt x="105134" y="530183"/>
                </a:lnTo>
                <a:lnTo>
                  <a:pt x="111182" y="529686"/>
                </a:lnTo>
                <a:lnTo>
                  <a:pt x="116655" y="527423"/>
                </a:lnTo>
                <a:lnTo>
                  <a:pt x="119892" y="525535"/>
                </a:lnTo>
                <a:lnTo>
                  <a:pt x="178858" y="490113"/>
                </a:lnTo>
                <a:lnTo>
                  <a:pt x="116224" y="490113"/>
                </a:lnTo>
                <a:lnTo>
                  <a:pt x="137866" y="345631"/>
                </a:lnTo>
                <a:lnTo>
                  <a:pt x="138091" y="340135"/>
                </a:lnTo>
                <a:lnTo>
                  <a:pt x="138193" y="337657"/>
                </a:lnTo>
                <a:lnTo>
                  <a:pt x="136867" y="329946"/>
                </a:lnTo>
                <a:lnTo>
                  <a:pt x="133968" y="322801"/>
                </a:lnTo>
                <a:lnTo>
                  <a:pt x="129575" y="316520"/>
                </a:lnTo>
                <a:lnTo>
                  <a:pt x="37842" y="214312"/>
                </a:lnTo>
                <a:lnTo>
                  <a:pt x="36994" y="214312"/>
                </a:lnTo>
                <a:lnTo>
                  <a:pt x="164312" y="193171"/>
                </a:lnTo>
                <a:lnTo>
                  <a:pt x="243070" y="43818"/>
                </a:lnTo>
                <a:lnTo>
                  <a:pt x="275849" y="43818"/>
                </a:lnTo>
                <a:lnTo>
                  <a:pt x="262968" y="13989"/>
                </a:lnTo>
                <a:lnTo>
                  <a:pt x="259283" y="5385"/>
                </a:lnTo>
                <a:lnTo>
                  <a:pt x="251545" y="0"/>
                </a:lnTo>
                <a:close/>
              </a:path>
              <a:path w="486410" h="530225">
                <a:moveTo>
                  <a:pt x="305570" y="451480"/>
                </a:moveTo>
                <a:lnTo>
                  <a:pt x="243168" y="451480"/>
                </a:lnTo>
                <a:lnTo>
                  <a:pt x="369586" y="527423"/>
                </a:lnTo>
                <a:lnTo>
                  <a:pt x="375112" y="529686"/>
                </a:lnTo>
                <a:lnTo>
                  <a:pt x="381178" y="530183"/>
                </a:lnTo>
                <a:lnTo>
                  <a:pt x="387122" y="528796"/>
                </a:lnTo>
                <a:lnTo>
                  <a:pt x="392590" y="525535"/>
                </a:lnTo>
                <a:lnTo>
                  <a:pt x="397057" y="520684"/>
                </a:lnTo>
                <a:lnTo>
                  <a:pt x="400132" y="514764"/>
                </a:lnTo>
                <a:lnTo>
                  <a:pt x="401669" y="508145"/>
                </a:lnTo>
                <a:lnTo>
                  <a:pt x="401520" y="501196"/>
                </a:lnTo>
                <a:lnTo>
                  <a:pt x="399853" y="490113"/>
                </a:lnTo>
                <a:lnTo>
                  <a:pt x="369830" y="490113"/>
                </a:lnTo>
                <a:lnTo>
                  <a:pt x="305570" y="451480"/>
                </a:lnTo>
                <a:close/>
              </a:path>
              <a:path w="486410" h="530225">
                <a:moveTo>
                  <a:pt x="243108" y="418389"/>
                </a:moveTo>
                <a:lnTo>
                  <a:pt x="235984" y="419360"/>
                </a:lnTo>
                <a:lnTo>
                  <a:pt x="229166" y="422273"/>
                </a:lnTo>
                <a:lnTo>
                  <a:pt x="116224" y="490113"/>
                </a:lnTo>
                <a:lnTo>
                  <a:pt x="178858" y="490113"/>
                </a:lnTo>
                <a:lnTo>
                  <a:pt x="243168" y="451480"/>
                </a:lnTo>
                <a:lnTo>
                  <a:pt x="305570" y="451480"/>
                </a:lnTo>
                <a:lnTo>
                  <a:pt x="256987" y="422273"/>
                </a:lnTo>
                <a:lnTo>
                  <a:pt x="250216" y="419360"/>
                </a:lnTo>
                <a:lnTo>
                  <a:pt x="243108" y="418389"/>
                </a:lnTo>
                <a:close/>
              </a:path>
              <a:path w="486410" h="530225">
                <a:moveTo>
                  <a:pt x="275849" y="43818"/>
                </a:moveTo>
                <a:lnTo>
                  <a:pt x="299633" y="174832"/>
                </a:lnTo>
                <a:lnTo>
                  <a:pt x="449154" y="214312"/>
                </a:lnTo>
                <a:lnTo>
                  <a:pt x="448306" y="214312"/>
                </a:lnTo>
                <a:lnTo>
                  <a:pt x="356478" y="316520"/>
                </a:lnTo>
                <a:lnTo>
                  <a:pt x="352057" y="322801"/>
                </a:lnTo>
                <a:lnTo>
                  <a:pt x="349148" y="329947"/>
                </a:lnTo>
                <a:lnTo>
                  <a:pt x="347825" y="337657"/>
                </a:lnTo>
                <a:lnTo>
                  <a:pt x="348187" y="345631"/>
                </a:lnTo>
                <a:lnTo>
                  <a:pt x="369830" y="490113"/>
                </a:lnTo>
                <a:lnTo>
                  <a:pt x="399853" y="490113"/>
                </a:lnTo>
                <a:lnTo>
                  <a:pt x="377298" y="340135"/>
                </a:lnTo>
                <a:lnTo>
                  <a:pt x="479638" y="226107"/>
                </a:lnTo>
                <a:lnTo>
                  <a:pt x="483388" y="220613"/>
                </a:lnTo>
                <a:lnTo>
                  <a:pt x="485612" y="214312"/>
                </a:lnTo>
                <a:lnTo>
                  <a:pt x="486235" y="207563"/>
                </a:lnTo>
                <a:lnTo>
                  <a:pt x="486248" y="207418"/>
                </a:lnTo>
                <a:lnTo>
                  <a:pt x="485182" y="200725"/>
                </a:lnTo>
                <a:lnTo>
                  <a:pt x="482587" y="191721"/>
                </a:lnTo>
                <a:lnTo>
                  <a:pt x="475684" y="185189"/>
                </a:lnTo>
                <a:lnTo>
                  <a:pt x="326164" y="160331"/>
                </a:lnTo>
                <a:lnTo>
                  <a:pt x="275849" y="43818"/>
                </a:lnTo>
                <a:close/>
              </a:path>
            </a:pathLst>
          </a:custGeom>
          <a:solidFill>
            <a:srgbClr val="66A8E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5582118" y="4840305"/>
            <a:ext cx="436880" cy="511175"/>
            <a:chOff x="5582118" y="4840305"/>
            <a:chExt cx="436880" cy="51117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2235" y="4840305"/>
              <a:ext cx="194062" cy="14084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82118" y="5158604"/>
              <a:ext cx="202264" cy="19286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773535" y="5045803"/>
              <a:ext cx="224154" cy="254000"/>
            </a:xfrm>
            <a:custGeom>
              <a:avLst/>
              <a:gdLst/>
              <a:ahLst/>
              <a:cxnLst/>
              <a:rect l="l" t="t" r="r" b="b"/>
              <a:pathLst>
                <a:path w="224154" h="254000">
                  <a:moveTo>
                    <a:pt x="0" y="253778"/>
                  </a:moveTo>
                  <a:lnTo>
                    <a:pt x="35398" y="224544"/>
                  </a:lnTo>
                  <a:lnTo>
                    <a:pt x="69903" y="192416"/>
                  </a:lnTo>
                  <a:lnTo>
                    <a:pt x="108712" y="152589"/>
                  </a:lnTo>
                  <a:lnTo>
                    <a:pt x="138155" y="119563"/>
                  </a:lnTo>
                  <a:lnTo>
                    <a:pt x="176089" y="72455"/>
                  </a:lnTo>
                  <a:lnTo>
                    <a:pt x="199793" y="39878"/>
                  </a:lnTo>
                  <a:lnTo>
                    <a:pt x="219446" y="7571"/>
                  </a:lnTo>
                  <a:lnTo>
                    <a:pt x="223614" y="0"/>
                  </a:lnTo>
                </a:path>
              </a:pathLst>
            </a:custGeom>
            <a:ln w="21695">
              <a:solidFill>
                <a:srgbClr val="66A8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29641" y="4959451"/>
              <a:ext cx="301727" cy="30375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72116" y="4923951"/>
              <a:ext cx="35560" cy="121920"/>
            </a:xfrm>
            <a:custGeom>
              <a:avLst/>
              <a:gdLst/>
              <a:ahLst/>
              <a:cxnLst/>
              <a:rect l="l" t="t" r="r" b="b"/>
              <a:pathLst>
                <a:path w="35560" h="121920">
                  <a:moveTo>
                    <a:pt x="24701" y="121664"/>
                  </a:moveTo>
                  <a:lnTo>
                    <a:pt x="35418" y="89389"/>
                  </a:lnTo>
                  <a:lnTo>
                    <a:pt x="34464" y="56344"/>
                  </a:lnTo>
                  <a:lnTo>
                    <a:pt x="22454" y="25542"/>
                  </a:lnTo>
                  <a:lnTo>
                    <a:pt x="0" y="0"/>
                  </a:lnTo>
                </a:path>
              </a:pathLst>
            </a:custGeom>
            <a:ln w="21696">
              <a:solidFill>
                <a:srgbClr val="66A8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5642043" y="6127489"/>
            <a:ext cx="317500" cy="489584"/>
          </a:xfrm>
          <a:custGeom>
            <a:avLst/>
            <a:gdLst/>
            <a:ahLst/>
            <a:cxnLst/>
            <a:rect l="l" t="t" r="r" b="b"/>
            <a:pathLst>
              <a:path w="317500" h="489584">
                <a:moveTo>
                  <a:pt x="316424" y="301417"/>
                </a:moveTo>
                <a:lnTo>
                  <a:pt x="239400" y="301375"/>
                </a:lnTo>
              </a:path>
              <a:path w="317500" h="489584">
                <a:moveTo>
                  <a:pt x="316424" y="301417"/>
                </a:moveTo>
                <a:lnTo>
                  <a:pt x="158080" y="489500"/>
                </a:lnTo>
              </a:path>
              <a:path w="317500" h="489584">
                <a:moveTo>
                  <a:pt x="158080" y="489500"/>
                </a:moveTo>
                <a:lnTo>
                  <a:pt x="158094" y="401510"/>
                </a:lnTo>
              </a:path>
              <a:path w="317500" h="489584">
                <a:moveTo>
                  <a:pt x="238768" y="302138"/>
                </a:moveTo>
                <a:lnTo>
                  <a:pt x="158094" y="401510"/>
                </a:lnTo>
              </a:path>
              <a:path w="317500" h="489584">
                <a:moveTo>
                  <a:pt x="77066" y="301389"/>
                </a:moveTo>
                <a:lnTo>
                  <a:pt x="908" y="301417"/>
                </a:lnTo>
              </a:path>
              <a:path w="317500" h="489584">
                <a:moveTo>
                  <a:pt x="158094" y="401510"/>
                </a:moveTo>
                <a:lnTo>
                  <a:pt x="77565" y="301993"/>
                </a:lnTo>
              </a:path>
              <a:path w="317500" h="489584">
                <a:moveTo>
                  <a:pt x="158080" y="489500"/>
                </a:moveTo>
                <a:lnTo>
                  <a:pt x="908" y="301417"/>
                </a:lnTo>
              </a:path>
              <a:path w="317500" h="489584">
                <a:moveTo>
                  <a:pt x="238019" y="301375"/>
                </a:moveTo>
                <a:lnTo>
                  <a:pt x="158073" y="221008"/>
                </a:lnTo>
              </a:path>
              <a:path w="317500" h="489584">
                <a:moveTo>
                  <a:pt x="158073" y="221008"/>
                </a:moveTo>
                <a:lnTo>
                  <a:pt x="78162" y="301389"/>
                </a:lnTo>
              </a:path>
              <a:path w="317500" h="489584">
                <a:moveTo>
                  <a:pt x="317396" y="300272"/>
                </a:moveTo>
                <a:lnTo>
                  <a:pt x="158094" y="140745"/>
                </a:lnTo>
              </a:path>
              <a:path w="317500" h="489584">
                <a:moveTo>
                  <a:pt x="158073" y="221008"/>
                </a:moveTo>
                <a:lnTo>
                  <a:pt x="157927" y="98400"/>
                </a:lnTo>
              </a:path>
              <a:path w="317500" h="489584">
                <a:moveTo>
                  <a:pt x="158094" y="140745"/>
                </a:moveTo>
                <a:lnTo>
                  <a:pt x="0" y="300334"/>
                </a:lnTo>
              </a:path>
              <a:path w="317500" h="489584">
                <a:moveTo>
                  <a:pt x="219583" y="61217"/>
                </a:moveTo>
                <a:lnTo>
                  <a:pt x="214772" y="85046"/>
                </a:lnTo>
                <a:lnTo>
                  <a:pt x="201653" y="104505"/>
                </a:lnTo>
                <a:lnTo>
                  <a:pt x="182194" y="117624"/>
                </a:lnTo>
                <a:lnTo>
                  <a:pt x="158364" y="122434"/>
                </a:lnTo>
                <a:lnTo>
                  <a:pt x="134535" y="117624"/>
                </a:lnTo>
                <a:lnTo>
                  <a:pt x="115076" y="104505"/>
                </a:lnTo>
                <a:lnTo>
                  <a:pt x="101956" y="85046"/>
                </a:lnTo>
                <a:lnTo>
                  <a:pt x="97146" y="61217"/>
                </a:lnTo>
                <a:lnTo>
                  <a:pt x="101956" y="37388"/>
                </a:lnTo>
                <a:lnTo>
                  <a:pt x="115076" y="17929"/>
                </a:lnTo>
                <a:lnTo>
                  <a:pt x="134535" y="4810"/>
                </a:lnTo>
                <a:lnTo>
                  <a:pt x="158364" y="0"/>
                </a:lnTo>
                <a:lnTo>
                  <a:pt x="182194" y="4810"/>
                </a:lnTo>
                <a:lnTo>
                  <a:pt x="201653" y="17929"/>
                </a:lnTo>
                <a:lnTo>
                  <a:pt x="214772" y="37388"/>
                </a:lnTo>
                <a:lnTo>
                  <a:pt x="219583" y="61217"/>
                </a:lnTo>
                <a:close/>
              </a:path>
              <a:path w="317500" h="489584">
                <a:moveTo>
                  <a:pt x="149532" y="121463"/>
                </a:moveTo>
                <a:lnTo>
                  <a:pt x="157900" y="123246"/>
                </a:lnTo>
              </a:path>
            </a:pathLst>
          </a:custGeom>
          <a:ln w="21683">
            <a:solidFill>
              <a:srgbClr val="66A8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316090" y="2249741"/>
            <a:ext cx="4923155" cy="4703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80" dirty="0">
                <a:solidFill>
                  <a:srgbClr val="D5E4EE"/>
                </a:solidFill>
                <a:latin typeface="Palatino Linotype"/>
                <a:cs typeface="Palatino Linotype"/>
              </a:rPr>
              <a:t>Java</a:t>
            </a:r>
            <a:r>
              <a:rPr sz="2100" spc="35" dirty="0">
                <a:solidFill>
                  <a:srgbClr val="D5E4EE"/>
                </a:solidFill>
                <a:latin typeface="Palatino Linotype"/>
                <a:cs typeface="Palatino Linotype"/>
              </a:rPr>
              <a:t> </a:t>
            </a:r>
            <a:r>
              <a:rPr sz="2100" spc="114" dirty="0">
                <a:solidFill>
                  <a:srgbClr val="D5E4EE"/>
                </a:solidFill>
                <a:latin typeface="Palatino Linotype"/>
                <a:cs typeface="Palatino Linotype"/>
              </a:rPr>
              <a:t>+</a:t>
            </a:r>
            <a:r>
              <a:rPr sz="2100" spc="-40" dirty="0">
                <a:solidFill>
                  <a:srgbClr val="D5E4EE"/>
                </a:solidFill>
                <a:latin typeface="Palatino Linotype"/>
                <a:cs typeface="Palatino Linotype"/>
              </a:rPr>
              <a:t> </a:t>
            </a:r>
            <a:r>
              <a:rPr sz="2100" spc="80" dirty="0">
                <a:solidFill>
                  <a:srgbClr val="D5E4EE"/>
                </a:solidFill>
                <a:latin typeface="Palatino Linotype"/>
                <a:cs typeface="Palatino Linotype"/>
              </a:rPr>
              <a:t>Maven</a:t>
            </a:r>
            <a:endParaRPr sz="21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1650" dirty="0">
                <a:solidFill>
                  <a:srgbClr val="D5E4EE"/>
                </a:solidFill>
                <a:latin typeface="Trebuchet MS"/>
                <a:cs typeface="Trebuchet MS"/>
              </a:rPr>
              <a:t>Language</a:t>
            </a:r>
            <a:r>
              <a:rPr sz="1650" spc="-4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D5E4EE"/>
                </a:solidFill>
                <a:latin typeface="Trebuchet MS"/>
                <a:cs typeface="Trebuchet MS"/>
              </a:rPr>
              <a:t>and</a:t>
            </a:r>
            <a:r>
              <a:rPr sz="1650" spc="-2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35" dirty="0">
                <a:solidFill>
                  <a:srgbClr val="D5E4EE"/>
                </a:solidFill>
                <a:latin typeface="Trebuchet MS"/>
                <a:cs typeface="Trebuchet MS"/>
              </a:rPr>
              <a:t>build</a:t>
            </a:r>
            <a:r>
              <a:rPr sz="1650" spc="-2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35" dirty="0">
                <a:solidFill>
                  <a:srgbClr val="D5E4EE"/>
                </a:solidFill>
                <a:latin typeface="Trebuchet MS"/>
                <a:cs typeface="Trebuchet MS"/>
              </a:rPr>
              <a:t>tool</a:t>
            </a:r>
            <a:r>
              <a:rPr sz="1650" spc="-1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30" dirty="0">
                <a:solidFill>
                  <a:srgbClr val="D5E4EE"/>
                </a:solidFill>
                <a:latin typeface="Trebuchet MS"/>
                <a:cs typeface="Trebuchet MS"/>
              </a:rPr>
              <a:t>driving</a:t>
            </a:r>
            <a:r>
              <a:rPr sz="1650" spc="-2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40" dirty="0">
                <a:solidFill>
                  <a:srgbClr val="D5E4EE"/>
                </a:solidFill>
                <a:latin typeface="Trebuchet MS"/>
                <a:cs typeface="Trebuchet MS"/>
              </a:rPr>
              <a:t>the</a:t>
            </a:r>
            <a:r>
              <a:rPr sz="1650" spc="-4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D5E4EE"/>
                </a:solidFill>
                <a:latin typeface="Trebuchet MS"/>
                <a:cs typeface="Trebuchet MS"/>
              </a:rPr>
              <a:t>framework.</a:t>
            </a:r>
            <a:endParaRPr sz="16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100" spc="85" dirty="0">
                <a:solidFill>
                  <a:srgbClr val="D5E4EE"/>
                </a:solidFill>
                <a:latin typeface="Palatino Linotype"/>
                <a:cs typeface="Palatino Linotype"/>
              </a:rPr>
              <a:t>Selenium</a:t>
            </a:r>
            <a:r>
              <a:rPr sz="2100" spc="25" dirty="0">
                <a:solidFill>
                  <a:srgbClr val="D5E4EE"/>
                </a:solidFill>
                <a:latin typeface="Palatino Linotype"/>
                <a:cs typeface="Palatino Linotype"/>
              </a:rPr>
              <a:t> </a:t>
            </a:r>
            <a:r>
              <a:rPr sz="2100" spc="-10" dirty="0">
                <a:solidFill>
                  <a:srgbClr val="D5E4EE"/>
                </a:solidFill>
                <a:latin typeface="Palatino Linotype"/>
                <a:cs typeface="Palatino Linotype"/>
              </a:rPr>
              <a:t>WebDriver</a:t>
            </a:r>
            <a:endParaRPr sz="21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1650" dirty="0">
                <a:solidFill>
                  <a:srgbClr val="D5E4EE"/>
                </a:solidFill>
                <a:latin typeface="Trebuchet MS"/>
                <a:cs typeface="Trebuchet MS"/>
              </a:rPr>
              <a:t>Browser</a:t>
            </a:r>
            <a:r>
              <a:rPr sz="1650" spc="-5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D5E4EE"/>
                </a:solidFill>
                <a:latin typeface="Trebuchet MS"/>
                <a:cs typeface="Trebuchet MS"/>
              </a:rPr>
              <a:t>automation</a:t>
            </a:r>
            <a:r>
              <a:rPr sz="1650" spc="-3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35" dirty="0">
                <a:solidFill>
                  <a:srgbClr val="D5E4EE"/>
                </a:solidFill>
                <a:latin typeface="Trebuchet MS"/>
                <a:cs typeface="Trebuchet MS"/>
              </a:rPr>
              <a:t>for</a:t>
            </a:r>
            <a:r>
              <a:rPr sz="1650" spc="-45" dirty="0">
                <a:solidFill>
                  <a:srgbClr val="D5E4EE"/>
                </a:solidFill>
                <a:latin typeface="Trebuchet MS"/>
                <a:cs typeface="Trebuchet MS"/>
              </a:rPr>
              <a:t> end-</a:t>
            </a:r>
            <a:r>
              <a:rPr sz="1650" spc="-85" dirty="0">
                <a:solidFill>
                  <a:srgbClr val="D5E4EE"/>
                </a:solidFill>
                <a:latin typeface="Trebuchet MS"/>
                <a:cs typeface="Trebuchet MS"/>
              </a:rPr>
              <a:t>to-</a:t>
            </a:r>
            <a:r>
              <a:rPr sz="1650" dirty="0">
                <a:solidFill>
                  <a:srgbClr val="D5E4EE"/>
                </a:solidFill>
                <a:latin typeface="Trebuchet MS"/>
                <a:cs typeface="Trebuchet MS"/>
              </a:rPr>
              <a:t>end</a:t>
            </a:r>
            <a:r>
              <a:rPr sz="1650" spc="-5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D5E4EE"/>
                </a:solidFill>
                <a:latin typeface="Trebuchet MS"/>
                <a:cs typeface="Trebuchet MS"/>
              </a:rPr>
              <a:t>tests.</a:t>
            </a:r>
            <a:endParaRPr sz="16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100" dirty="0">
                <a:solidFill>
                  <a:srgbClr val="D5E4EE"/>
                </a:solidFill>
                <a:latin typeface="Palatino Linotype"/>
                <a:cs typeface="Palatino Linotype"/>
              </a:rPr>
              <a:t>Cucumber</a:t>
            </a:r>
            <a:r>
              <a:rPr sz="2100" spc="250" dirty="0">
                <a:solidFill>
                  <a:srgbClr val="D5E4EE"/>
                </a:solidFill>
                <a:latin typeface="Palatino Linotype"/>
                <a:cs typeface="Palatino Linotype"/>
              </a:rPr>
              <a:t> </a:t>
            </a:r>
            <a:r>
              <a:rPr sz="2100" spc="-25" dirty="0">
                <a:solidFill>
                  <a:srgbClr val="D5E4EE"/>
                </a:solidFill>
                <a:latin typeface="Palatino Linotype"/>
                <a:cs typeface="Palatino Linotype"/>
              </a:rPr>
              <a:t>BDD</a:t>
            </a:r>
            <a:endParaRPr sz="21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1650" spc="-10" dirty="0">
                <a:solidFill>
                  <a:srgbClr val="D5E4EE"/>
                </a:solidFill>
                <a:latin typeface="Trebuchet MS"/>
                <a:cs typeface="Trebuchet MS"/>
              </a:rPr>
              <a:t>Readable</a:t>
            </a:r>
            <a:r>
              <a:rPr sz="1650" spc="-3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20" dirty="0">
                <a:solidFill>
                  <a:srgbClr val="D5E4EE"/>
                </a:solidFill>
                <a:latin typeface="Trebuchet MS"/>
                <a:cs typeface="Trebuchet MS"/>
              </a:rPr>
              <a:t>Gherkin</a:t>
            </a:r>
            <a:r>
              <a:rPr sz="1650" spc="1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D5E4EE"/>
                </a:solidFill>
                <a:latin typeface="Trebuchet MS"/>
                <a:cs typeface="Trebuchet MS"/>
              </a:rPr>
              <a:t>scenarios</a:t>
            </a:r>
            <a:r>
              <a:rPr sz="1650" spc="-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35" dirty="0">
                <a:solidFill>
                  <a:srgbClr val="D5E4EE"/>
                </a:solidFill>
                <a:latin typeface="Trebuchet MS"/>
                <a:cs typeface="Trebuchet MS"/>
              </a:rPr>
              <a:t>for</a:t>
            </a:r>
            <a:r>
              <a:rPr sz="1650" spc="-10" dirty="0">
                <a:solidFill>
                  <a:srgbClr val="D5E4EE"/>
                </a:solidFill>
                <a:latin typeface="Trebuchet MS"/>
                <a:cs typeface="Trebuchet MS"/>
              </a:rPr>
              <a:t> collaboration.</a:t>
            </a:r>
            <a:endParaRPr sz="16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100" dirty="0">
                <a:solidFill>
                  <a:srgbClr val="D5E4EE"/>
                </a:solidFill>
                <a:latin typeface="Palatino Linotype"/>
                <a:cs typeface="Palatino Linotype"/>
              </a:rPr>
              <a:t>Allure</a:t>
            </a:r>
            <a:r>
              <a:rPr sz="2100" spc="45" dirty="0">
                <a:solidFill>
                  <a:srgbClr val="D5E4EE"/>
                </a:solidFill>
                <a:latin typeface="Palatino Linotype"/>
                <a:cs typeface="Palatino Linotype"/>
              </a:rPr>
              <a:t> </a:t>
            </a:r>
            <a:r>
              <a:rPr sz="2100" spc="-330" dirty="0">
                <a:solidFill>
                  <a:srgbClr val="D5E4EE"/>
                </a:solidFill>
                <a:latin typeface="Palatino Linotype"/>
                <a:cs typeface="Palatino Linotype"/>
              </a:rPr>
              <a:t>&amp;</a:t>
            </a:r>
            <a:r>
              <a:rPr sz="2100" spc="125" dirty="0">
                <a:solidFill>
                  <a:srgbClr val="D5E4EE"/>
                </a:solidFill>
                <a:latin typeface="Palatino Linotype"/>
                <a:cs typeface="Palatino Linotype"/>
              </a:rPr>
              <a:t> </a:t>
            </a:r>
            <a:r>
              <a:rPr sz="2100" spc="-10" dirty="0">
                <a:solidFill>
                  <a:srgbClr val="D5E4EE"/>
                </a:solidFill>
                <a:latin typeface="Palatino Linotype"/>
                <a:cs typeface="Palatino Linotype"/>
              </a:rPr>
              <a:t>Log4j2</a:t>
            </a:r>
            <a:endParaRPr sz="21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1650" dirty="0">
                <a:solidFill>
                  <a:srgbClr val="D5E4EE"/>
                </a:solidFill>
                <a:latin typeface="Trebuchet MS"/>
                <a:cs typeface="Trebuchet MS"/>
              </a:rPr>
              <a:t>Rich</a:t>
            </a:r>
            <a:r>
              <a:rPr sz="1650" spc="-1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30" dirty="0">
                <a:solidFill>
                  <a:srgbClr val="D5E4EE"/>
                </a:solidFill>
                <a:latin typeface="Trebuchet MS"/>
                <a:cs typeface="Trebuchet MS"/>
              </a:rPr>
              <a:t>reporting</a:t>
            </a:r>
            <a:r>
              <a:rPr sz="1650" spc="-2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D5E4EE"/>
                </a:solidFill>
                <a:latin typeface="Trebuchet MS"/>
                <a:cs typeface="Trebuchet MS"/>
              </a:rPr>
              <a:t>plus</a:t>
            </a:r>
            <a:r>
              <a:rPr sz="1650" spc="-25" dirty="0">
                <a:solidFill>
                  <a:srgbClr val="D5E4EE"/>
                </a:solidFill>
                <a:latin typeface="Trebuchet MS"/>
                <a:cs typeface="Trebuchet MS"/>
              </a:rPr>
              <a:t> structured </a:t>
            </a:r>
            <a:r>
              <a:rPr sz="1650" dirty="0">
                <a:solidFill>
                  <a:srgbClr val="D5E4EE"/>
                </a:solidFill>
                <a:latin typeface="Trebuchet MS"/>
                <a:cs typeface="Trebuchet MS"/>
              </a:rPr>
              <a:t>logging</a:t>
            </a:r>
            <a:r>
              <a:rPr sz="1650" spc="-3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35" dirty="0">
                <a:solidFill>
                  <a:srgbClr val="D5E4EE"/>
                </a:solidFill>
                <a:latin typeface="Trebuchet MS"/>
                <a:cs typeface="Trebuchet MS"/>
              </a:rPr>
              <a:t>for</a:t>
            </a:r>
            <a:r>
              <a:rPr sz="1650" spc="-3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D5E4EE"/>
                </a:solidFill>
                <a:latin typeface="Trebuchet MS"/>
                <a:cs typeface="Trebuchet MS"/>
              </a:rPr>
              <a:t>debugging.</a:t>
            </a:r>
            <a:endParaRPr sz="16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781684" y="715215"/>
            <a:ext cx="6645275" cy="7010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spc="210" dirty="0"/>
              <a:t>Framework</a:t>
            </a:r>
            <a:r>
              <a:rPr sz="4400" spc="15" dirty="0"/>
              <a:t> </a:t>
            </a:r>
            <a:r>
              <a:rPr sz="4400" spc="140" dirty="0"/>
              <a:t>Architecture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781684" y="2051562"/>
            <a:ext cx="7973548" cy="5765040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 marR="5080">
              <a:lnSpc>
                <a:spcPct val="141700"/>
              </a:lnSpc>
              <a:spcBef>
                <a:spcPts val="130"/>
              </a:spcBef>
            </a:pP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Key</a:t>
            </a:r>
            <a:r>
              <a:rPr sz="1700" spc="-5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folders:</a:t>
            </a:r>
            <a:r>
              <a:rPr sz="1700" spc="-3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src/main/java</a:t>
            </a:r>
            <a:r>
              <a:rPr sz="1700" spc="-3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(base,</a:t>
            </a:r>
            <a:r>
              <a:rPr sz="1700" spc="-2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30" dirty="0">
                <a:solidFill>
                  <a:srgbClr val="D5E4EE"/>
                </a:solidFill>
                <a:latin typeface="Trebuchet MS"/>
                <a:cs typeface="Trebuchet MS"/>
              </a:rPr>
              <a:t>pageObject),</a:t>
            </a:r>
            <a:r>
              <a:rPr sz="1700" spc="-10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D5E4EE"/>
                </a:solidFill>
                <a:latin typeface="Trebuchet MS"/>
                <a:cs typeface="Trebuchet MS"/>
              </a:rPr>
              <a:t>src/test/java</a:t>
            </a:r>
            <a:r>
              <a:rPr sz="1700" spc="-9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(cucumber </a:t>
            </a: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options,</a:t>
            </a:r>
            <a:r>
              <a:rPr sz="1700" spc="2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hooks,</a:t>
            </a:r>
            <a:r>
              <a:rPr sz="1700" spc="-5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stepdefinitions),</a:t>
            </a:r>
            <a:r>
              <a:rPr sz="1700" spc="2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src/test/resources </a:t>
            </a:r>
            <a:r>
              <a:rPr sz="1700" spc="-30" dirty="0">
                <a:solidFill>
                  <a:srgbClr val="D5E4EE"/>
                </a:solidFill>
                <a:latin typeface="Trebuchet MS"/>
                <a:cs typeface="Trebuchet MS"/>
              </a:rPr>
              <a:t>(features,</a:t>
            </a:r>
            <a:r>
              <a:rPr sz="1700" spc="-5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log4j2.xml, </a:t>
            </a:r>
            <a:r>
              <a:rPr sz="1700" spc="-35" dirty="0">
                <a:solidFill>
                  <a:srgbClr val="D5E4EE"/>
                </a:solidFill>
                <a:latin typeface="Trebuchet MS"/>
                <a:cs typeface="Trebuchet MS"/>
              </a:rPr>
              <a:t>data.properties),</a:t>
            </a:r>
            <a:r>
              <a:rPr sz="1700" spc="-2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95" dirty="0">
                <a:solidFill>
                  <a:srgbClr val="D5E4EE"/>
                </a:solidFill>
                <a:latin typeface="Trebuchet MS"/>
                <a:cs typeface="Trebuchet MS"/>
              </a:rPr>
              <a:t>logs</a:t>
            </a:r>
            <a:r>
              <a:rPr sz="1700" spc="-5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20" dirty="0">
                <a:solidFill>
                  <a:srgbClr val="D5E4EE"/>
                </a:solidFill>
                <a:latin typeface="Trebuchet MS"/>
                <a:cs typeface="Trebuchet MS"/>
              </a:rPr>
              <a:t>(automation.log,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 error.log).</a:t>
            </a:r>
          </a:p>
          <a:p>
            <a:pPr marL="12700" marR="5080">
              <a:lnSpc>
                <a:spcPct val="141700"/>
              </a:lnSpc>
              <a:spcBef>
                <a:spcPts val="130"/>
              </a:spcBef>
            </a:pPr>
            <a:endParaRPr lang="en-US" sz="1700" spc="-10" dirty="0">
              <a:solidFill>
                <a:srgbClr val="D5E4EE"/>
              </a:solidFill>
              <a:latin typeface="Trebuchet MS"/>
              <a:cs typeface="Trebuchet MS"/>
            </a:endParaRPr>
          </a:p>
          <a:p>
            <a:pPr algn="l"/>
            <a:r>
              <a:rPr lang="en-US" sz="1700" spc="-10" dirty="0">
                <a:solidFill>
                  <a:srgbClr val="D5E4EE"/>
                </a:solidFill>
              </a:rPr>
              <a:t>Final_Project_01</a:t>
            </a:r>
            <a:endParaRPr lang="en-US" dirty="0"/>
          </a:p>
          <a:p>
            <a:pPr algn="l"/>
            <a:r>
              <a:rPr lang="en-US" sz="1700" spc="-10" dirty="0">
                <a:solidFill>
                  <a:srgbClr val="D5E4EE"/>
                </a:solidFill>
              </a:rPr>
              <a:t>├── src/main/java</a:t>
            </a:r>
            <a:endParaRPr lang="en-US" dirty="0"/>
          </a:p>
          <a:p>
            <a:pPr algn="l"/>
            <a:r>
              <a:rPr lang="en-US" sz="1700" spc="-10" dirty="0">
                <a:solidFill>
                  <a:srgbClr val="D5E4EE"/>
                </a:solidFill>
              </a:rPr>
              <a:t>│   ├── base          → Base.java (WebDriver reference)</a:t>
            </a:r>
            <a:endParaRPr lang="en-US" dirty="0"/>
          </a:p>
          <a:p>
            <a:pPr algn="l"/>
            <a:r>
              <a:rPr lang="en-US" sz="1700" spc="-10" dirty="0">
                <a:solidFill>
                  <a:srgbClr val="D5E4EE"/>
                </a:solidFill>
              </a:rPr>
              <a:t>│   └── </a:t>
            </a:r>
            <a:r>
              <a:rPr lang="en-US" sz="1700" spc="-10" dirty="0" err="1">
                <a:solidFill>
                  <a:srgbClr val="D5E4EE"/>
                </a:solidFill>
              </a:rPr>
              <a:t>pageObject</a:t>
            </a:r>
            <a:r>
              <a:rPr lang="en-US" sz="1700" spc="-10" dirty="0">
                <a:solidFill>
                  <a:srgbClr val="D5E4EE"/>
                </a:solidFill>
              </a:rPr>
              <a:t>    → HomePage.java (POM methods)</a:t>
            </a:r>
            <a:endParaRPr lang="en-US" dirty="0"/>
          </a:p>
          <a:p>
            <a:pPr algn="l"/>
            <a:r>
              <a:rPr lang="en-US" sz="1700" spc="-10" dirty="0">
                <a:solidFill>
                  <a:srgbClr val="D5E4EE"/>
                </a:solidFill>
              </a:rPr>
              <a:t>├── </a:t>
            </a:r>
            <a:r>
              <a:rPr lang="en-US" sz="1700" spc="-10" dirty="0" err="1">
                <a:solidFill>
                  <a:srgbClr val="D5E4EE"/>
                </a:solidFill>
              </a:rPr>
              <a:t>src</a:t>
            </a:r>
            <a:r>
              <a:rPr lang="en-US" sz="1700" spc="-10" dirty="0">
                <a:solidFill>
                  <a:srgbClr val="D5E4EE"/>
                </a:solidFill>
              </a:rPr>
              <a:t>/test/java</a:t>
            </a:r>
            <a:endParaRPr lang="en-US" dirty="0"/>
          </a:p>
          <a:p>
            <a:pPr algn="l"/>
            <a:r>
              <a:rPr lang="en-US" sz="1700" spc="-10" dirty="0">
                <a:solidFill>
                  <a:srgbClr val="D5E4EE"/>
                </a:solidFill>
              </a:rPr>
              <a:t>│   ├── </a:t>
            </a:r>
            <a:r>
              <a:rPr lang="en-US" sz="1700" spc="-10" dirty="0" err="1">
                <a:solidFill>
                  <a:srgbClr val="D5E4EE"/>
                </a:solidFill>
              </a:rPr>
              <a:t>cucumberoption</a:t>
            </a:r>
            <a:r>
              <a:rPr lang="en-US" sz="1700" spc="-10" dirty="0">
                <a:solidFill>
                  <a:srgbClr val="D5E4EE"/>
                </a:solidFill>
              </a:rPr>
              <a:t> → TestRunner.java (Cucumber + TestNG)</a:t>
            </a:r>
            <a:endParaRPr lang="en-US" dirty="0"/>
          </a:p>
          <a:p>
            <a:pPr algn="l"/>
            <a:r>
              <a:rPr lang="en-US" sz="1700" spc="-10" dirty="0">
                <a:solidFill>
                  <a:srgbClr val="D5E4EE"/>
                </a:solidFill>
              </a:rPr>
              <a:t>│   ├── hooks          → TestHooks.java (Before/After, screenshots, logs)</a:t>
            </a:r>
            <a:endParaRPr lang="en-US" dirty="0"/>
          </a:p>
          <a:p>
            <a:pPr algn="l"/>
            <a:r>
              <a:rPr lang="en-US" sz="1700" spc="-10" dirty="0">
                <a:solidFill>
                  <a:srgbClr val="D5E4EE"/>
                </a:solidFill>
              </a:rPr>
              <a:t>│   └── </a:t>
            </a:r>
            <a:r>
              <a:rPr lang="en-US" sz="1700" spc="-10" dirty="0" err="1">
                <a:solidFill>
                  <a:srgbClr val="D5E4EE"/>
                </a:solidFill>
              </a:rPr>
              <a:t>stepdefinition</a:t>
            </a:r>
            <a:r>
              <a:rPr lang="en-US" sz="1700" spc="-10" dirty="0">
                <a:solidFill>
                  <a:srgbClr val="D5E4EE"/>
                </a:solidFill>
              </a:rPr>
              <a:t> → BookingSteps.java (step definitions)</a:t>
            </a:r>
            <a:endParaRPr lang="en-US" dirty="0"/>
          </a:p>
          <a:p>
            <a:pPr algn="l"/>
            <a:r>
              <a:rPr lang="en-US" sz="1700" spc="-10" dirty="0">
                <a:solidFill>
                  <a:srgbClr val="D5E4EE"/>
                </a:solidFill>
              </a:rPr>
              <a:t>├── </a:t>
            </a:r>
            <a:r>
              <a:rPr lang="en-US" sz="1700" spc="-10" dirty="0" err="1">
                <a:solidFill>
                  <a:srgbClr val="D5E4EE"/>
                </a:solidFill>
              </a:rPr>
              <a:t>src</a:t>
            </a:r>
            <a:r>
              <a:rPr lang="en-US" sz="1700" spc="-10" dirty="0">
                <a:solidFill>
                  <a:srgbClr val="D5E4EE"/>
                </a:solidFill>
              </a:rPr>
              <a:t>/test/resources</a:t>
            </a:r>
            <a:endParaRPr lang="en-US" dirty="0"/>
          </a:p>
          <a:p>
            <a:pPr algn="l"/>
            <a:r>
              <a:rPr lang="en-US" sz="1700" spc="-10" dirty="0">
                <a:solidFill>
                  <a:srgbClr val="D5E4EE"/>
                </a:solidFill>
              </a:rPr>
              <a:t>│   ├── features       → </a:t>
            </a:r>
            <a:r>
              <a:rPr lang="en-US" sz="1700" spc="-10" dirty="0" err="1">
                <a:solidFill>
                  <a:srgbClr val="D5E4EE"/>
                </a:solidFill>
              </a:rPr>
              <a:t>booking_search_and_filter.feature</a:t>
            </a:r>
            <a:endParaRPr lang="en-US" dirty="0" err="1"/>
          </a:p>
          <a:p>
            <a:pPr algn="l"/>
            <a:r>
              <a:rPr lang="en-US" sz="1700" spc="-10" dirty="0">
                <a:solidFill>
                  <a:srgbClr val="D5E4EE"/>
                </a:solidFill>
              </a:rPr>
              <a:t>│   ├── log4j2.xml     → Log configuration</a:t>
            </a:r>
            <a:endParaRPr lang="en-US" dirty="0"/>
          </a:p>
          <a:p>
            <a:pPr algn="l"/>
            <a:r>
              <a:rPr lang="en-US" sz="1700" spc="-10" dirty="0">
                <a:solidFill>
                  <a:srgbClr val="D5E4EE"/>
                </a:solidFill>
              </a:rPr>
              <a:t>│   └── </a:t>
            </a:r>
            <a:r>
              <a:rPr lang="en-US" sz="1700" spc="-10" dirty="0" err="1">
                <a:solidFill>
                  <a:srgbClr val="D5E4EE"/>
                </a:solidFill>
              </a:rPr>
              <a:t>data.properties</a:t>
            </a:r>
            <a:r>
              <a:rPr lang="en-US" sz="1700" spc="-10" dirty="0">
                <a:solidFill>
                  <a:srgbClr val="D5E4EE"/>
                </a:solidFill>
              </a:rPr>
              <a:t> → URL, test data</a:t>
            </a:r>
            <a:endParaRPr lang="en-US" dirty="0"/>
          </a:p>
          <a:p>
            <a:pPr marL="12700" marR="5080">
              <a:lnSpc>
                <a:spcPct val="141700"/>
              </a:lnSpc>
              <a:spcBef>
                <a:spcPts val="130"/>
              </a:spcBef>
            </a:pPr>
            <a:r>
              <a:rPr lang="en-US" sz="1700" spc="-10" dirty="0">
                <a:solidFill>
                  <a:srgbClr val="D5E4EE"/>
                </a:solidFill>
              </a:rPr>
              <a:t>└── logs               → automation.log, error.log</a:t>
            </a:r>
            <a:endParaRPr lang="en-US" dirty="0"/>
          </a:p>
          <a:p>
            <a:pPr marL="12700" marR="5080">
              <a:lnSpc>
                <a:spcPct val="141700"/>
              </a:lnSpc>
              <a:spcBef>
                <a:spcPts val="130"/>
              </a:spcBef>
            </a:pPr>
            <a:endParaRPr lang="en-US" sz="1700" spc="-10" dirty="0">
              <a:solidFill>
                <a:srgbClr val="D5E4EE"/>
              </a:solidFill>
              <a:latin typeface="Trebuchet MS"/>
              <a:cs typeface="Trebuchet MS"/>
            </a:endParaRPr>
          </a:p>
          <a:p>
            <a:pPr marL="12700" marR="5080">
              <a:lnSpc>
                <a:spcPct val="141700"/>
              </a:lnSpc>
              <a:spcBef>
                <a:spcPts val="130"/>
              </a:spcBef>
            </a:pPr>
            <a:endParaRPr lang="en-US" sz="1700" spc="-10" dirty="0">
              <a:solidFill>
                <a:srgbClr val="D5E4EE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95007" y="514984"/>
            <a:ext cx="8221345" cy="624530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65" dirty="0"/>
              <a:t>Cucumber</a:t>
            </a:r>
            <a:r>
              <a:rPr sz="3950" spc="-20" dirty="0"/>
              <a:t> </a:t>
            </a:r>
            <a:r>
              <a:rPr sz="3950" spc="-229" dirty="0"/>
              <a:t>:</a:t>
            </a:r>
            <a:r>
              <a:rPr sz="3950" spc="10" dirty="0"/>
              <a:t> </a:t>
            </a:r>
            <a:r>
              <a:rPr sz="3950" spc="130" dirty="0"/>
              <a:t>Feature</a:t>
            </a:r>
            <a:r>
              <a:rPr sz="3950" spc="-40" dirty="0"/>
              <a:t> </a:t>
            </a:r>
            <a:r>
              <a:rPr sz="3950" spc="-585" dirty="0"/>
              <a:t>&amp;</a:t>
            </a:r>
            <a:r>
              <a:rPr sz="3950" spc="-40" dirty="0"/>
              <a:t> </a:t>
            </a:r>
            <a:r>
              <a:rPr sz="3950" spc="155" dirty="0"/>
              <a:t>Scenario</a:t>
            </a:r>
            <a:endParaRPr sz="3950"/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1543050"/>
            <a:ext cx="13106400" cy="56578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31950" y="6102667"/>
            <a:ext cx="3897190" cy="36997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sz="2300" dirty="0">
                <a:latin typeface="Palatino Linotype"/>
                <a:cs typeface="Palatino Linotype"/>
              </a:rPr>
              <a:t>Apply</a:t>
            </a:r>
            <a:r>
              <a:rPr sz="2300" spc="-70" dirty="0">
                <a:latin typeface="Palatino Linotype"/>
                <a:cs typeface="Palatino Linotype"/>
              </a:rPr>
              <a:t> </a:t>
            </a:r>
            <a:r>
              <a:rPr lang="en-US" sz="2300" spc="-70" dirty="0">
                <a:latin typeface="Palatino Linotype"/>
                <a:cs typeface="Palatino Linotype"/>
              </a:rPr>
              <a:t>Search Button</a:t>
            </a:r>
            <a:endParaRPr sz="2300" spc="70" dirty="0" err="1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1950" y="4792662"/>
            <a:ext cx="5280268" cy="36997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sz="2300" spc="100" dirty="0">
                <a:latin typeface="Palatino Linotype"/>
                <a:cs typeface="Palatino Linotype"/>
              </a:rPr>
              <a:t>Select</a:t>
            </a:r>
            <a:r>
              <a:rPr sz="2300" spc="-30" dirty="0">
                <a:latin typeface="Palatino Linotype"/>
                <a:cs typeface="Palatino Linotype"/>
              </a:rPr>
              <a:t> </a:t>
            </a:r>
            <a:r>
              <a:rPr lang="en-US" sz="2300" spc="-30" dirty="0">
                <a:latin typeface="Palatino Linotype"/>
                <a:cs typeface="Palatino Linotype"/>
              </a:rPr>
              <a:t>Check-in &amp; Check-out </a:t>
            </a:r>
            <a:r>
              <a:rPr lang="en-US" sz="2300" spc="-20" dirty="0">
                <a:latin typeface="Palatino Linotype"/>
                <a:cs typeface="Palatino Linotype"/>
              </a:rPr>
              <a:t>Dates</a:t>
            </a:r>
            <a:endParaRPr sz="230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31950" y="3496246"/>
            <a:ext cx="2449830" cy="380365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sz="2300" spc="95" dirty="0">
                <a:latin typeface="Palatino Linotype"/>
                <a:cs typeface="Palatino Linotype"/>
              </a:rPr>
              <a:t>Enter</a:t>
            </a:r>
            <a:r>
              <a:rPr sz="2300" spc="-50" dirty="0">
                <a:latin typeface="Palatino Linotype"/>
                <a:cs typeface="Palatino Linotype"/>
              </a:rPr>
              <a:t> </a:t>
            </a:r>
            <a:r>
              <a:rPr sz="2300" spc="50" dirty="0">
                <a:latin typeface="Palatino Linotype"/>
                <a:cs typeface="Palatino Linotype"/>
              </a:rPr>
              <a:t>Destination</a:t>
            </a:r>
            <a:r>
              <a:rPr lang="en-US" sz="2300" spc="50" dirty="0">
                <a:latin typeface="Palatino Linotype"/>
                <a:cs typeface="Palatino Linotype"/>
              </a:rPr>
              <a:t> </a:t>
            </a:r>
            <a:endParaRPr sz="2300" dirty="0">
              <a:latin typeface="Palatino Linotype"/>
              <a:cs typeface="Palatino Linotyp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1950" y="2096301"/>
            <a:ext cx="5388172" cy="36997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sz="2300" dirty="0">
                <a:latin typeface="Palatino Linotype"/>
                <a:cs typeface="Palatino Linotype"/>
              </a:rPr>
              <a:t>Open</a:t>
            </a:r>
            <a:r>
              <a:rPr sz="2300" spc="-80" dirty="0">
                <a:latin typeface="Palatino Linotype"/>
                <a:cs typeface="Palatino Linotype"/>
              </a:rPr>
              <a:t> </a:t>
            </a:r>
            <a:r>
              <a:rPr lang="en-US" sz="2300" spc="-80" dirty="0">
                <a:latin typeface="Palatino Linotype"/>
                <a:cs typeface="Palatino Linotype"/>
              </a:rPr>
              <a:t>Air BNB  Web Page </a:t>
            </a:r>
            <a:endParaRPr sz="2300" spc="55" dirty="0">
              <a:latin typeface="Palatino Linotype"/>
              <a:cs typeface="Palatino Linotyp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4948" y="7156185"/>
            <a:ext cx="12424545" cy="254557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spc="-30" dirty="0">
                <a:solidFill>
                  <a:srgbClr val="D5E4EE"/>
                </a:solidFill>
                <a:latin typeface="Trebuchet MS"/>
                <a:cs typeface="Trebuchet MS"/>
              </a:rPr>
              <a:t>Gherkin</a:t>
            </a:r>
            <a:r>
              <a:rPr sz="1550" spc="-11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550" spc="55" dirty="0">
                <a:solidFill>
                  <a:srgbClr val="D5E4EE"/>
                </a:solidFill>
                <a:latin typeface="Trebuchet MS"/>
                <a:cs typeface="Trebuchet MS"/>
              </a:rPr>
              <a:t>steps</a:t>
            </a:r>
            <a:r>
              <a:rPr sz="1550" spc="-13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D5E4EE"/>
                </a:solidFill>
                <a:latin typeface="Trebuchet MS"/>
                <a:cs typeface="Trebuchet MS"/>
              </a:rPr>
              <a:t>cover</a:t>
            </a:r>
            <a:r>
              <a:rPr sz="1550" spc="-7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D5E4EE"/>
                </a:solidFill>
                <a:latin typeface="Trebuchet MS"/>
                <a:cs typeface="Trebuchet MS"/>
              </a:rPr>
              <a:t>opening</a:t>
            </a:r>
            <a:r>
              <a:rPr sz="1550" spc="-4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550" spc="-35" dirty="0">
                <a:solidFill>
                  <a:srgbClr val="D5E4EE"/>
                </a:solidFill>
                <a:latin typeface="Trebuchet MS"/>
                <a:cs typeface="Trebuchet MS"/>
              </a:rPr>
              <a:t>the</a:t>
            </a:r>
            <a:r>
              <a:rPr sz="1550" spc="1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550" spc="-50" dirty="0">
                <a:solidFill>
                  <a:srgbClr val="D5E4EE"/>
                </a:solidFill>
                <a:latin typeface="Trebuchet MS"/>
                <a:cs typeface="Trebuchet MS"/>
              </a:rPr>
              <a:t>page,</a:t>
            </a:r>
            <a:r>
              <a:rPr sz="1550" spc="-7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D5E4EE"/>
                </a:solidFill>
                <a:latin typeface="Trebuchet MS"/>
                <a:cs typeface="Trebuchet MS"/>
              </a:rPr>
              <a:t>searching</a:t>
            </a:r>
            <a:r>
              <a:rPr sz="1550" spc="-12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550" spc="-25" dirty="0">
                <a:solidFill>
                  <a:srgbClr val="D5E4EE"/>
                </a:solidFill>
                <a:latin typeface="Trebuchet MS"/>
                <a:cs typeface="Trebuchet MS"/>
              </a:rPr>
              <a:t>'Goa',</a:t>
            </a:r>
            <a:r>
              <a:rPr sz="1550" spc="-7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D5E4EE"/>
                </a:solidFill>
                <a:latin typeface="Trebuchet MS"/>
                <a:cs typeface="Trebuchet MS"/>
              </a:rPr>
              <a:t>selecting</a:t>
            </a:r>
            <a:r>
              <a:rPr sz="1550" spc="-12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D5E4EE"/>
                </a:solidFill>
                <a:latin typeface="Trebuchet MS"/>
                <a:cs typeface="Trebuchet MS"/>
              </a:rPr>
              <a:t>check-</a:t>
            </a:r>
            <a:r>
              <a:rPr sz="1550" spc="-90" dirty="0">
                <a:solidFill>
                  <a:srgbClr val="D5E4EE"/>
                </a:solidFill>
                <a:latin typeface="Trebuchet MS"/>
                <a:cs typeface="Trebuchet MS"/>
              </a:rPr>
              <a:t>in/out</a:t>
            </a:r>
            <a:r>
              <a:rPr lang="en-US" sz="1550" spc="-90" dirty="0">
                <a:solidFill>
                  <a:srgbClr val="D5E4EE"/>
                </a:solidFill>
                <a:latin typeface="Trebuchet MS"/>
                <a:cs typeface="Trebuchet MS"/>
              </a:rPr>
              <a:t> and apply search</a:t>
            </a:r>
            <a:r>
              <a:rPr lang="en-US" sz="1550" spc="-55" dirty="0">
                <a:solidFill>
                  <a:srgbClr val="D5E4EE"/>
                </a:solidFill>
                <a:latin typeface="Trebuchet MS"/>
                <a:cs typeface="Trebuchet MS"/>
              </a:rPr>
              <a:t> </a:t>
            </a:r>
            <a:r>
              <a:rPr sz="1550" spc="-10" dirty="0">
                <a:solidFill>
                  <a:srgbClr val="D5E4EE"/>
                </a:solidFill>
                <a:latin typeface="Trebuchet MS"/>
                <a:cs typeface="Trebuchet MS"/>
              </a:rPr>
              <a:t>results.</a:t>
            </a:r>
            <a:endParaRPr sz="15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7552" y="548640"/>
            <a:ext cx="629602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4" dirty="0"/>
              <a:t>Page</a:t>
            </a:r>
            <a:r>
              <a:rPr spc="130" dirty="0"/>
              <a:t> </a:t>
            </a:r>
            <a:r>
              <a:rPr dirty="0"/>
              <a:t>Object</a:t>
            </a:r>
            <a:r>
              <a:rPr spc="130" dirty="0"/>
              <a:t> </a:t>
            </a:r>
            <a:r>
              <a:rPr dirty="0"/>
              <a:t>Model</a:t>
            </a:r>
            <a:r>
              <a:rPr spc="145" dirty="0"/>
              <a:t> </a:t>
            </a:r>
            <a:r>
              <a:rPr spc="-30" dirty="0"/>
              <a:t>(POM)</a:t>
            </a:r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475" y="1790700"/>
            <a:ext cx="4257675" cy="56769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341902" y="1624075"/>
            <a:ext cx="4076700" cy="2362200"/>
            <a:chOff x="5538850" y="3452875"/>
            <a:chExt cx="4076700" cy="2362200"/>
          </a:xfrm>
        </p:grpSpPr>
        <p:sp>
          <p:nvSpPr>
            <p:cNvPr id="5" name="object 5"/>
            <p:cNvSpPr/>
            <p:nvPr/>
          </p:nvSpPr>
          <p:spPr>
            <a:xfrm>
              <a:off x="5538850" y="3452875"/>
              <a:ext cx="4076700" cy="2362200"/>
            </a:xfrm>
            <a:custGeom>
              <a:avLst/>
              <a:gdLst/>
              <a:ahLst/>
              <a:cxnLst/>
              <a:rect l="l" t="t" r="r" b="b"/>
              <a:pathLst>
                <a:path w="4076700" h="2362200">
                  <a:moveTo>
                    <a:pt x="4044442" y="0"/>
                  </a:moveTo>
                  <a:lnTo>
                    <a:pt x="32131" y="0"/>
                  </a:lnTo>
                  <a:lnTo>
                    <a:pt x="19609" y="2520"/>
                  </a:lnTo>
                  <a:lnTo>
                    <a:pt x="9398" y="9398"/>
                  </a:lnTo>
                  <a:lnTo>
                    <a:pt x="2520" y="19609"/>
                  </a:lnTo>
                  <a:lnTo>
                    <a:pt x="0" y="32131"/>
                  </a:lnTo>
                  <a:lnTo>
                    <a:pt x="0" y="2329942"/>
                  </a:lnTo>
                  <a:lnTo>
                    <a:pt x="2520" y="2342463"/>
                  </a:lnTo>
                  <a:lnTo>
                    <a:pt x="9398" y="2352675"/>
                  </a:lnTo>
                  <a:lnTo>
                    <a:pt x="19609" y="2359552"/>
                  </a:lnTo>
                  <a:lnTo>
                    <a:pt x="32131" y="2362073"/>
                  </a:lnTo>
                  <a:lnTo>
                    <a:pt x="4044442" y="2362073"/>
                  </a:lnTo>
                  <a:lnTo>
                    <a:pt x="4056983" y="2359552"/>
                  </a:lnTo>
                  <a:lnTo>
                    <a:pt x="4067238" y="2352675"/>
                  </a:lnTo>
                  <a:lnTo>
                    <a:pt x="4074159" y="2342463"/>
                  </a:lnTo>
                  <a:lnTo>
                    <a:pt x="4076700" y="2329942"/>
                  </a:lnTo>
                  <a:lnTo>
                    <a:pt x="4076700" y="32131"/>
                  </a:lnTo>
                  <a:lnTo>
                    <a:pt x="4074159" y="19609"/>
                  </a:lnTo>
                  <a:lnTo>
                    <a:pt x="4067238" y="9398"/>
                  </a:lnTo>
                  <a:lnTo>
                    <a:pt x="4056983" y="2520"/>
                  </a:lnTo>
                  <a:lnTo>
                    <a:pt x="4044442" y="0"/>
                  </a:lnTo>
                  <a:close/>
                </a:path>
              </a:pathLst>
            </a:custGeom>
            <a:solidFill>
              <a:srgbClr val="1F27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38850" y="3452875"/>
              <a:ext cx="4076700" cy="2362200"/>
            </a:xfrm>
            <a:custGeom>
              <a:avLst/>
              <a:gdLst/>
              <a:ahLst/>
              <a:cxnLst/>
              <a:rect l="l" t="t" r="r" b="b"/>
              <a:pathLst>
                <a:path w="4076700" h="2362200">
                  <a:moveTo>
                    <a:pt x="0" y="32131"/>
                  </a:moveTo>
                  <a:lnTo>
                    <a:pt x="2520" y="19609"/>
                  </a:lnTo>
                  <a:lnTo>
                    <a:pt x="9398" y="9398"/>
                  </a:lnTo>
                  <a:lnTo>
                    <a:pt x="19609" y="2520"/>
                  </a:lnTo>
                  <a:lnTo>
                    <a:pt x="32131" y="0"/>
                  </a:lnTo>
                  <a:lnTo>
                    <a:pt x="4044442" y="0"/>
                  </a:lnTo>
                  <a:lnTo>
                    <a:pt x="4056983" y="2520"/>
                  </a:lnTo>
                  <a:lnTo>
                    <a:pt x="4067238" y="9398"/>
                  </a:lnTo>
                  <a:lnTo>
                    <a:pt x="4074159" y="19609"/>
                  </a:lnTo>
                  <a:lnTo>
                    <a:pt x="4076700" y="32131"/>
                  </a:lnTo>
                  <a:lnTo>
                    <a:pt x="4076700" y="2329942"/>
                  </a:lnTo>
                  <a:lnTo>
                    <a:pt x="4074159" y="2342463"/>
                  </a:lnTo>
                  <a:lnTo>
                    <a:pt x="4067238" y="2352675"/>
                  </a:lnTo>
                  <a:lnTo>
                    <a:pt x="4056983" y="2359552"/>
                  </a:lnTo>
                  <a:lnTo>
                    <a:pt x="4044442" y="2362073"/>
                  </a:lnTo>
                  <a:lnTo>
                    <a:pt x="32131" y="2362073"/>
                  </a:lnTo>
                  <a:lnTo>
                    <a:pt x="19609" y="2359552"/>
                  </a:lnTo>
                  <a:lnTo>
                    <a:pt x="9398" y="2352675"/>
                  </a:lnTo>
                  <a:lnTo>
                    <a:pt x="2520" y="2342463"/>
                  </a:lnTo>
                  <a:lnTo>
                    <a:pt x="0" y="2329942"/>
                  </a:lnTo>
                  <a:lnTo>
                    <a:pt x="0" y="32131"/>
                  </a:lnTo>
                  <a:close/>
                </a:path>
              </a:pathLst>
            </a:custGeom>
            <a:ln w="30480">
              <a:solidFill>
                <a:srgbClr val="575F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574948" y="1835467"/>
            <a:ext cx="3282950" cy="186436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35" dirty="0">
                <a:solidFill>
                  <a:srgbClr val="D5E4EE"/>
                </a:solidFill>
                <a:latin typeface="Palatino Linotype"/>
                <a:cs typeface="Palatino Linotype"/>
              </a:rPr>
              <a:t>HomePage.java</a:t>
            </a:r>
            <a:endParaRPr sz="2100">
              <a:latin typeface="Palatino Linotype"/>
              <a:cs typeface="Palatino Linotype"/>
            </a:endParaRPr>
          </a:p>
          <a:p>
            <a:pPr marL="12700" marR="5080">
              <a:lnSpc>
                <a:spcPct val="131500"/>
              </a:lnSpc>
              <a:spcBef>
                <a:spcPts val="1540"/>
              </a:spcBef>
            </a:pPr>
            <a:r>
              <a:rPr sz="1650" spc="-10" dirty="0">
                <a:solidFill>
                  <a:srgbClr val="D5E4EE"/>
                </a:solidFill>
                <a:latin typeface="Trebuchet MS"/>
                <a:cs typeface="Trebuchet MS"/>
              </a:rPr>
              <a:t>Centralizes</a:t>
            </a:r>
            <a:r>
              <a:rPr sz="1650" spc="1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D5E4EE"/>
                </a:solidFill>
                <a:latin typeface="Trebuchet MS"/>
                <a:cs typeface="Trebuchet MS"/>
              </a:rPr>
              <a:t>locators</a:t>
            </a:r>
            <a:r>
              <a:rPr sz="1650" spc="1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D5E4EE"/>
                </a:solidFill>
                <a:latin typeface="Trebuchet MS"/>
                <a:cs typeface="Trebuchet MS"/>
              </a:rPr>
              <a:t>(XPaths)</a:t>
            </a:r>
            <a:r>
              <a:rPr sz="1650" spc="-1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25" dirty="0">
                <a:solidFill>
                  <a:srgbClr val="D5E4EE"/>
                </a:solidFill>
                <a:latin typeface="Trebuchet MS"/>
                <a:cs typeface="Trebuchet MS"/>
              </a:rPr>
              <a:t>and </a:t>
            </a:r>
            <a:r>
              <a:rPr sz="1650" dirty="0">
                <a:solidFill>
                  <a:srgbClr val="D5E4EE"/>
                </a:solidFill>
                <a:latin typeface="Trebuchet MS"/>
                <a:cs typeface="Trebuchet MS"/>
              </a:rPr>
              <a:t>reusable</a:t>
            </a:r>
            <a:r>
              <a:rPr sz="1650" spc="-6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D5E4EE"/>
                </a:solidFill>
                <a:latin typeface="Trebuchet MS"/>
                <a:cs typeface="Trebuchet MS"/>
              </a:rPr>
              <a:t>methods:</a:t>
            </a:r>
            <a:r>
              <a:rPr sz="1650" spc="-10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25" dirty="0">
                <a:solidFill>
                  <a:srgbClr val="D5E4EE"/>
                </a:solidFill>
                <a:latin typeface="Trebuchet MS"/>
                <a:cs typeface="Trebuchet MS"/>
              </a:rPr>
              <a:t>openCalendar(), </a:t>
            </a:r>
            <a:r>
              <a:rPr sz="1650" spc="-30" dirty="0">
                <a:solidFill>
                  <a:srgbClr val="D5E4EE"/>
                </a:solidFill>
                <a:latin typeface="Trebuchet MS"/>
                <a:cs typeface="Trebuchet MS"/>
              </a:rPr>
              <a:t>clickByXpath(),</a:t>
            </a:r>
            <a:r>
              <a:rPr sz="1650" spc="-4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10" dirty="0" err="1">
                <a:solidFill>
                  <a:srgbClr val="D5E4EE"/>
                </a:solidFill>
                <a:latin typeface="Trebuchet MS"/>
                <a:cs typeface="Trebuchet MS"/>
              </a:rPr>
              <a:t>selectDates</a:t>
            </a:r>
            <a:r>
              <a:rPr sz="1650" spc="-10" dirty="0">
                <a:solidFill>
                  <a:srgbClr val="D5E4EE"/>
                </a:solidFill>
                <a:latin typeface="Trebuchet MS"/>
                <a:cs typeface="Trebuchet MS"/>
              </a:rPr>
              <a:t>(), </a:t>
            </a:r>
            <a:r>
              <a:rPr sz="1650" spc="-40" dirty="0" err="1">
                <a:solidFill>
                  <a:srgbClr val="D5E4EE"/>
                </a:solidFill>
                <a:latin typeface="Trebuchet MS"/>
                <a:cs typeface="Trebuchet MS"/>
              </a:rPr>
              <a:t>enterDestination</a:t>
            </a:r>
            <a:r>
              <a:rPr sz="1650" spc="-40" dirty="0">
                <a:solidFill>
                  <a:srgbClr val="D5E4EE"/>
                </a:solidFill>
                <a:latin typeface="Trebuchet MS"/>
                <a:cs typeface="Trebuchet MS"/>
              </a:rPr>
              <a:t>(),</a:t>
            </a:r>
            <a:r>
              <a:rPr sz="1650" spc="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lang="en-US" sz="1650" spc="-10" dirty="0" err="1">
                <a:solidFill>
                  <a:srgbClr val="D5E4EE"/>
                </a:solidFill>
                <a:latin typeface="Trebuchet MS"/>
                <a:cs typeface="Trebuchet MS"/>
              </a:rPr>
              <a:t>clickSearch</a:t>
            </a:r>
            <a:r>
              <a:rPr sz="1650" spc="-10" dirty="0">
                <a:solidFill>
                  <a:srgbClr val="D5E4EE"/>
                </a:solidFill>
                <a:latin typeface="Trebuchet MS"/>
                <a:cs typeface="Trebuchet MS"/>
              </a:rPr>
              <a:t>().</a:t>
            </a:r>
            <a:endParaRPr sz="1650" dirty="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603387" y="1608835"/>
            <a:ext cx="4107179" cy="2392680"/>
            <a:chOff x="9800335" y="3437635"/>
            <a:chExt cx="4107179" cy="2392680"/>
          </a:xfrm>
        </p:grpSpPr>
        <p:sp>
          <p:nvSpPr>
            <p:cNvPr id="9" name="object 9"/>
            <p:cNvSpPr/>
            <p:nvPr/>
          </p:nvSpPr>
          <p:spPr>
            <a:xfrm>
              <a:off x="9815575" y="3452875"/>
              <a:ext cx="4076700" cy="2362200"/>
            </a:xfrm>
            <a:custGeom>
              <a:avLst/>
              <a:gdLst/>
              <a:ahLst/>
              <a:cxnLst/>
              <a:rect l="l" t="t" r="r" b="b"/>
              <a:pathLst>
                <a:path w="4076700" h="2362200">
                  <a:moveTo>
                    <a:pt x="4044441" y="0"/>
                  </a:moveTo>
                  <a:lnTo>
                    <a:pt x="32130" y="0"/>
                  </a:lnTo>
                  <a:lnTo>
                    <a:pt x="19609" y="2520"/>
                  </a:lnTo>
                  <a:lnTo>
                    <a:pt x="9397" y="9398"/>
                  </a:lnTo>
                  <a:lnTo>
                    <a:pt x="2520" y="19609"/>
                  </a:lnTo>
                  <a:lnTo>
                    <a:pt x="0" y="32131"/>
                  </a:lnTo>
                  <a:lnTo>
                    <a:pt x="0" y="2329942"/>
                  </a:lnTo>
                  <a:lnTo>
                    <a:pt x="2520" y="2342463"/>
                  </a:lnTo>
                  <a:lnTo>
                    <a:pt x="9398" y="2352675"/>
                  </a:lnTo>
                  <a:lnTo>
                    <a:pt x="19609" y="2359552"/>
                  </a:lnTo>
                  <a:lnTo>
                    <a:pt x="32130" y="2362073"/>
                  </a:lnTo>
                  <a:lnTo>
                    <a:pt x="4044441" y="2362073"/>
                  </a:lnTo>
                  <a:lnTo>
                    <a:pt x="4056983" y="2359552"/>
                  </a:lnTo>
                  <a:lnTo>
                    <a:pt x="4067238" y="2352675"/>
                  </a:lnTo>
                  <a:lnTo>
                    <a:pt x="4074160" y="2342463"/>
                  </a:lnTo>
                  <a:lnTo>
                    <a:pt x="4076700" y="2329942"/>
                  </a:lnTo>
                  <a:lnTo>
                    <a:pt x="4076700" y="32131"/>
                  </a:lnTo>
                  <a:lnTo>
                    <a:pt x="4074160" y="19609"/>
                  </a:lnTo>
                  <a:lnTo>
                    <a:pt x="4067238" y="9398"/>
                  </a:lnTo>
                  <a:lnTo>
                    <a:pt x="4056983" y="2520"/>
                  </a:lnTo>
                  <a:lnTo>
                    <a:pt x="4044441" y="0"/>
                  </a:lnTo>
                  <a:close/>
                </a:path>
              </a:pathLst>
            </a:custGeom>
            <a:solidFill>
              <a:srgbClr val="1F27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815575" y="3452875"/>
              <a:ext cx="4076700" cy="2362200"/>
            </a:xfrm>
            <a:custGeom>
              <a:avLst/>
              <a:gdLst/>
              <a:ahLst/>
              <a:cxnLst/>
              <a:rect l="l" t="t" r="r" b="b"/>
              <a:pathLst>
                <a:path w="4076700" h="2362200">
                  <a:moveTo>
                    <a:pt x="0" y="32131"/>
                  </a:moveTo>
                  <a:lnTo>
                    <a:pt x="2520" y="19609"/>
                  </a:lnTo>
                  <a:lnTo>
                    <a:pt x="9397" y="9398"/>
                  </a:lnTo>
                  <a:lnTo>
                    <a:pt x="19609" y="2520"/>
                  </a:lnTo>
                  <a:lnTo>
                    <a:pt x="32130" y="0"/>
                  </a:lnTo>
                  <a:lnTo>
                    <a:pt x="4044441" y="0"/>
                  </a:lnTo>
                  <a:lnTo>
                    <a:pt x="4056983" y="2520"/>
                  </a:lnTo>
                  <a:lnTo>
                    <a:pt x="4067238" y="9398"/>
                  </a:lnTo>
                  <a:lnTo>
                    <a:pt x="4074160" y="19609"/>
                  </a:lnTo>
                  <a:lnTo>
                    <a:pt x="4076700" y="32131"/>
                  </a:lnTo>
                  <a:lnTo>
                    <a:pt x="4076700" y="2329942"/>
                  </a:lnTo>
                  <a:lnTo>
                    <a:pt x="4074160" y="2342463"/>
                  </a:lnTo>
                  <a:lnTo>
                    <a:pt x="4067238" y="2352675"/>
                  </a:lnTo>
                  <a:lnTo>
                    <a:pt x="4056983" y="2359552"/>
                  </a:lnTo>
                  <a:lnTo>
                    <a:pt x="4044441" y="2362073"/>
                  </a:lnTo>
                  <a:lnTo>
                    <a:pt x="32130" y="2362073"/>
                  </a:lnTo>
                  <a:lnTo>
                    <a:pt x="19609" y="2359552"/>
                  </a:lnTo>
                  <a:lnTo>
                    <a:pt x="9398" y="2352675"/>
                  </a:lnTo>
                  <a:lnTo>
                    <a:pt x="2520" y="2342463"/>
                  </a:lnTo>
                  <a:lnTo>
                    <a:pt x="0" y="2329942"/>
                  </a:lnTo>
                  <a:lnTo>
                    <a:pt x="0" y="32131"/>
                  </a:lnTo>
                  <a:close/>
                </a:path>
              </a:pathLst>
            </a:custGeom>
            <a:ln w="30480">
              <a:solidFill>
                <a:srgbClr val="575F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854847" y="1835467"/>
            <a:ext cx="3395345" cy="1530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65" dirty="0">
                <a:solidFill>
                  <a:srgbClr val="D5E4EE"/>
                </a:solidFill>
                <a:latin typeface="Palatino Linotype"/>
                <a:cs typeface="Palatino Linotype"/>
              </a:rPr>
              <a:t>Benefits</a:t>
            </a:r>
            <a:endParaRPr sz="2100">
              <a:latin typeface="Palatino Linotype"/>
              <a:cs typeface="Palatino Linotype"/>
            </a:endParaRPr>
          </a:p>
          <a:p>
            <a:pPr marL="12700" marR="5080">
              <a:lnSpc>
                <a:spcPct val="130900"/>
              </a:lnSpc>
              <a:spcBef>
                <a:spcPts val="1555"/>
              </a:spcBef>
            </a:pPr>
            <a:r>
              <a:rPr sz="1650" spc="-45" dirty="0">
                <a:solidFill>
                  <a:srgbClr val="D5E4EE"/>
                </a:solidFill>
                <a:latin typeface="Trebuchet MS"/>
                <a:cs typeface="Trebuchet MS"/>
              </a:rPr>
              <a:t>Reusability,</a:t>
            </a:r>
            <a:r>
              <a:rPr sz="1650" spc="-114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D5E4EE"/>
                </a:solidFill>
                <a:latin typeface="Trebuchet MS"/>
                <a:cs typeface="Trebuchet MS"/>
              </a:rPr>
              <a:t>reduced</a:t>
            </a:r>
            <a:r>
              <a:rPr sz="1650" spc="-4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D5E4EE"/>
                </a:solidFill>
                <a:latin typeface="Trebuchet MS"/>
                <a:cs typeface="Trebuchet MS"/>
              </a:rPr>
              <a:t>duplication, </a:t>
            </a:r>
            <a:r>
              <a:rPr sz="1650" dirty="0">
                <a:solidFill>
                  <a:srgbClr val="D5E4EE"/>
                </a:solidFill>
                <a:latin typeface="Trebuchet MS"/>
                <a:cs typeface="Trebuchet MS"/>
              </a:rPr>
              <a:t>easier</a:t>
            </a:r>
            <a:r>
              <a:rPr sz="1650" spc="-6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35" dirty="0">
                <a:solidFill>
                  <a:srgbClr val="D5E4EE"/>
                </a:solidFill>
                <a:latin typeface="Trebuchet MS"/>
                <a:cs typeface="Trebuchet MS"/>
              </a:rPr>
              <a:t>maintenance,</a:t>
            </a:r>
            <a:r>
              <a:rPr sz="1650" spc="-5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D5E4EE"/>
                </a:solidFill>
                <a:latin typeface="Trebuchet MS"/>
                <a:cs typeface="Trebuchet MS"/>
              </a:rPr>
              <a:t>and</a:t>
            </a:r>
            <a:r>
              <a:rPr sz="1650" spc="-6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35" dirty="0">
                <a:solidFill>
                  <a:srgbClr val="D5E4EE"/>
                </a:solidFill>
                <a:latin typeface="Trebuchet MS"/>
                <a:cs typeface="Trebuchet MS"/>
              </a:rPr>
              <a:t>clearer</a:t>
            </a:r>
            <a:r>
              <a:rPr sz="1650" spc="-6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20" dirty="0">
                <a:solidFill>
                  <a:srgbClr val="D5E4EE"/>
                </a:solidFill>
                <a:latin typeface="Trebuchet MS"/>
                <a:cs typeface="Trebuchet MS"/>
              </a:rPr>
              <a:t>test </a:t>
            </a:r>
            <a:r>
              <a:rPr sz="1650" spc="-10" dirty="0">
                <a:solidFill>
                  <a:srgbClr val="D5E4EE"/>
                </a:solidFill>
                <a:latin typeface="Trebuchet MS"/>
                <a:cs typeface="Trebuchet MS"/>
              </a:rPr>
              <a:t>code.</a:t>
            </a:r>
            <a:endParaRPr sz="1650">
              <a:latin typeface="Trebuchet MS"/>
              <a:cs typeface="Trebuchet MS"/>
            </a:endParaRPr>
          </a:p>
        </p:txBody>
      </p:sp>
      <p:grpSp>
        <p:nvGrpSpPr>
          <p:cNvPr id="12" name="object 4">
            <a:extLst>
              <a:ext uri="{FF2B5EF4-FFF2-40B4-BE49-F238E27FC236}">
                <a16:creationId xmlns:a16="http://schemas.microsoft.com/office/drawing/2014/main" id="{9EF23DE7-A8CE-2C14-5CD0-DDBCC4966946}"/>
              </a:ext>
            </a:extLst>
          </p:cNvPr>
          <p:cNvGrpSpPr/>
          <p:nvPr/>
        </p:nvGrpSpPr>
        <p:grpSpPr>
          <a:xfrm>
            <a:off x="5581052" y="4423545"/>
            <a:ext cx="8606496" cy="3248464"/>
            <a:chOff x="5538850" y="3452875"/>
            <a:chExt cx="4076700" cy="2362200"/>
          </a:xfrm>
        </p:grpSpPr>
        <p:sp>
          <p:nvSpPr>
            <p:cNvPr id="13" name="object 5">
              <a:extLst>
                <a:ext uri="{FF2B5EF4-FFF2-40B4-BE49-F238E27FC236}">
                  <a16:creationId xmlns:a16="http://schemas.microsoft.com/office/drawing/2014/main" id="{627C4E44-5751-0EE7-018B-1E12737BA50D}"/>
                </a:ext>
              </a:extLst>
            </p:cNvPr>
            <p:cNvSpPr/>
            <p:nvPr/>
          </p:nvSpPr>
          <p:spPr>
            <a:xfrm>
              <a:off x="5538850" y="3452875"/>
              <a:ext cx="4076700" cy="2362200"/>
            </a:xfrm>
            <a:custGeom>
              <a:avLst/>
              <a:gdLst/>
              <a:ahLst/>
              <a:cxnLst/>
              <a:rect l="l" t="t" r="r" b="b"/>
              <a:pathLst>
                <a:path w="4076700" h="2362200">
                  <a:moveTo>
                    <a:pt x="4044442" y="0"/>
                  </a:moveTo>
                  <a:lnTo>
                    <a:pt x="32131" y="0"/>
                  </a:lnTo>
                  <a:lnTo>
                    <a:pt x="19609" y="2520"/>
                  </a:lnTo>
                  <a:lnTo>
                    <a:pt x="9398" y="9398"/>
                  </a:lnTo>
                  <a:lnTo>
                    <a:pt x="2520" y="19609"/>
                  </a:lnTo>
                  <a:lnTo>
                    <a:pt x="0" y="32131"/>
                  </a:lnTo>
                  <a:lnTo>
                    <a:pt x="0" y="2329942"/>
                  </a:lnTo>
                  <a:lnTo>
                    <a:pt x="2520" y="2342463"/>
                  </a:lnTo>
                  <a:lnTo>
                    <a:pt x="9398" y="2352675"/>
                  </a:lnTo>
                  <a:lnTo>
                    <a:pt x="19609" y="2359552"/>
                  </a:lnTo>
                  <a:lnTo>
                    <a:pt x="32131" y="2362073"/>
                  </a:lnTo>
                  <a:lnTo>
                    <a:pt x="4044442" y="2362073"/>
                  </a:lnTo>
                  <a:lnTo>
                    <a:pt x="4056983" y="2359552"/>
                  </a:lnTo>
                  <a:lnTo>
                    <a:pt x="4067238" y="2352675"/>
                  </a:lnTo>
                  <a:lnTo>
                    <a:pt x="4074159" y="2342463"/>
                  </a:lnTo>
                  <a:lnTo>
                    <a:pt x="4076700" y="2329942"/>
                  </a:lnTo>
                  <a:lnTo>
                    <a:pt x="4076700" y="32131"/>
                  </a:lnTo>
                  <a:lnTo>
                    <a:pt x="4074159" y="19609"/>
                  </a:lnTo>
                  <a:lnTo>
                    <a:pt x="4067238" y="9398"/>
                  </a:lnTo>
                  <a:lnTo>
                    <a:pt x="4056983" y="2520"/>
                  </a:lnTo>
                  <a:lnTo>
                    <a:pt x="4044442" y="0"/>
                  </a:lnTo>
                  <a:close/>
                </a:path>
              </a:pathLst>
            </a:custGeom>
            <a:solidFill>
              <a:srgbClr val="1F27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6">
              <a:extLst>
                <a:ext uri="{FF2B5EF4-FFF2-40B4-BE49-F238E27FC236}">
                  <a16:creationId xmlns:a16="http://schemas.microsoft.com/office/drawing/2014/main" id="{B26F9ACE-C254-4F32-2809-EB6E72A6AC94}"/>
                </a:ext>
              </a:extLst>
            </p:cNvPr>
            <p:cNvSpPr/>
            <p:nvPr/>
          </p:nvSpPr>
          <p:spPr>
            <a:xfrm>
              <a:off x="5538850" y="3452875"/>
              <a:ext cx="4076700" cy="2362200"/>
            </a:xfrm>
            <a:custGeom>
              <a:avLst/>
              <a:gdLst/>
              <a:ahLst/>
              <a:cxnLst/>
              <a:rect l="l" t="t" r="r" b="b"/>
              <a:pathLst>
                <a:path w="4076700" h="2362200">
                  <a:moveTo>
                    <a:pt x="0" y="32131"/>
                  </a:moveTo>
                  <a:lnTo>
                    <a:pt x="2520" y="19609"/>
                  </a:lnTo>
                  <a:lnTo>
                    <a:pt x="9398" y="9398"/>
                  </a:lnTo>
                  <a:lnTo>
                    <a:pt x="19609" y="2520"/>
                  </a:lnTo>
                  <a:lnTo>
                    <a:pt x="32131" y="0"/>
                  </a:lnTo>
                  <a:lnTo>
                    <a:pt x="4044442" y="0"/>
                  </a:lnTo>
                  <a:lnTo>
                    <a:pt x="4056983" y="2520"/>
                  </a:lnTo>
                  <a:lnTo>
                    <a:pt x="4067238" y="9398"/>
                  </a:lnTo>
                  <a:lnTo>
                    <a:pt x="4074159" y="19609"/>
                  </a:lnTo>
                  <a:lnTo>
                    <a:pt x="4076700" y="32131"/>
                  </a:lnTo>
                  <a:lnTo>
                    <a:pt x="4076700" y="2329942"/>
                  </a:lnTo>
                  <a:lnTo>
                    <a:pt x="4074159" y="2342463"/>
                  </a:lnTo>
                  <a:lnTo>
                    <a:pt x="4067238" y="2352675"/>
                  </a:lnTo>
                  <a:lnTo>
                    <a:pt x="4056983" y="2359552"/>
                  </a:lnTo>
                  <a:lnTo>
                    <a:pt x="4044442" y="2362073"/>
                  </a:lnTo>
                  <a:lnTo>
                    <a:pt x="32131" y="2362073"/>
                  </a:lnTo>
                  <a:lnTo>
                    <a:pt x="19609" y="2359552"/>
                  </a:lnTo>
                  <a:lnTo>
                    <a:pt x="9398" y="2352675"/>
                  </a:lnTo>
                  <a:lnTo>
                    <a:pt x="2520" y="2342463"/>
                  </a:lnTo>
                  <a:lnTo>
                    <a:pt x="0" y="2329942"/>
                  </a:lnTo>
                  <a:lnTo>
                    <a:pt x="0" y="32131"/>
                  </a:lnTo>
                  <a:close/>
                </a:path>
              </a:pathLst>
            </a:custGeom>
            <a:ln w="30480">
              <a:solidFill>
                <a:srgbClr val="575F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7">
            <a:extLst>
              <a:ext uri="{FF2B5EF4-FFF2-40B4-BE49-F238E27FC236}">
                <a16:creationId xmlns:a16="http://schemas.microsoft.com/office/drawing/2014/main" id="{FAE108EC-C559-1F85-8DF2-9ADA4DF8E0C5}"/>
              </a:ext>
            </a:extLst>
          </p:cNvPr>
          <p:cNvSpPr txBox="1"/>
          <p:nvPr/>
        </p:nvSpPr>
        <p:spPr>
          <a:xfrm>
            <a:off x="5940707" y="4972562"/>
            <a:ext cx="6940550" cy="245195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000" spc="35" dirty="0">
                <a:solidFill>
                  <a:srgbClr val="D5E4EE"/>
                </a:solidFill>
              </a:rPr>
              <a:t>Core Concept of POM</a:t>
            </a:r>
            <a:endParaRPr lang="en-US" sz="3000" dirty="0">
              <a:solidFill>
                <a:srgbClr val="000000"/>
              </a:solidFill>
            </a:endParaRPr>
          </a:p>
          <a:p>
            <a:pPr marL="12700">
              <a:spcBef>
                <a:spcPts val="100"/>
              </a:spcBef>
            </a:pPr>
            <a:r>
              <a:rPr lang="en-US" sz="2100" spc="35" dirty="0">
                <a:solidFill>
                  <a:srgbClr val="D5E4EE"/>
                </a:solidFill>
              </a:rPr>
              <a:t>• Promotes code reusability across multiple test cases. • Significantly reduces duplicate code, making the framework lean. </a:t>
            </a:r>
            <a:endParaRPr lang="en-US">
              <a:solidFill>
                <a:srgbClr val="000000"/>
              </a:solidFill>
            </a:endParaRPr>
          </a:p>
          <a:p>
            <a:pPr marL="12700">
              <a:spcBef>
                <a:spcPts val="100"/>
              </a:spcBef>
            </a:pPr>
            <a:r>
              <a:rPr lang="en-US" sz="2100" spc="35" dirty="0">
                <a:solidFill>
                  <a:srgbClr val="D5E4EE"/>
                </a:solidFill>
              </a:rPr>
              <a:t>• Simplifies maintenance efforts when UI changes occur, as only page object classes need updates. </a:t>
            </a:r>
            <a:endParaRPr lang="en-US">
              <a:solidFill>
                <a:srgbClr val="000000"/>
              </a:solidFill>
            </a:endParaRPr>
          </a:p>
          <a:p>
            <a:pPr marL="12700">
              <a:spcBef>
                <a:spcPts val="100"/>
              </a:spcBef>
            </a:pPr>
            <a:r>
              <a:rPr lang="en-US" sz="2100" spc="35" dirty="0">
                <a:solidFill>
                  <a:srgbClr val="D5E4EE"/>
                </a:solidFill>
              </a:rPr>
              <a:t>• Enhances overall test readability and understanding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9199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130"/>
              </a:spcBef>
            </a:pPr>
            <a:r>
              <a:rPr sz="4400" spc="135" dirty="0"/>
              <a:t>Step</a:t>
            </a:r>
            <a:r>
              <a:rPr sz="4400" dirty="0"/>
              <a:t> </a:t>
            </a:r>
            <a:r>
              <a:rPr sz="4400" spc="120" dirty="0"/>
              <a:t>Definitions</a:t>
            </a:r>
            <a:r>
              <a:rPr sz="4400" spc="5" dirty="0"/>
              <a:t> </a:t>
            </a:r>
            <a:r>
              <a:rPr sz="4400" spc="-655" dirty="0"/>
              <a:t>&amp;</a:t>
            </a:r>
            <a:r>
              <a:rPr sz="4400" spc="30" dirty="0"/>
              <a:t> </a:t>
            </a:r>
            <a:r>
              <a:rPr sz="4400" spc="80" dirty="0"/>
              <a:t>Hooks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467846" y="1822076"/>
            <a:ext cx="228600" cy="2124075"/>
          </a:xfrm>
          <a:custGeom>
            <a:avLst/>
            <a:gdLst/>
            <a:ahLst/>
            <a:cxnLst/>
            <a:rect l="l" t="t" r="r" b="b"/>
            <a:pathLst>
              <a:path w="228600" h="2124075">
                <a:moveTo>
                  <a:pt x="194309" y="0"/>
                </a:moveTo>
                <a:lnTo>
                  <a:pt x="34290" y="0"/>
                </a:lnTo>
                <a:lnTo>
                  <a:pt x="20943" y="2696"/>
                </a:lnTo>
                <a:lnTo>
                  <a:pt x="10044" y="10048"/>
                </a:lnTo>
                <a:lnTo>
                  <a:pt x="2694" y="20949"/>
                </a:lnTo>
                <a:lnTo>
                  <a:pt x="0" y="34289"/>
                </a:lnTo>
                <a:lnTo>
                  <a:pt x="0" y="2089785"/>
                </a:lnTo>
                <a:lnTo>
                  <a:pt x="2694" y="2103125"/>
                </a:lnTo>
                <a:lnTo>
                  <a:pt x="10044" y="2114026"/>
                </a:lnTo>
                <a:lnTo>
                  <a:pt x="20943" y="2121378"/>
                </a:lnTo>
                <a:lnTo>
                  <a:pt x="34290" y="2124075"/>
                </a:lnTo>
                <a:lnTo>
                  <a:pt x="194309" y="2124075"/>
                </a:lnTo>
                <a:lnTo>
                  <a:pt x="207656" y="2121378"/>
                </a:lnTo>
                <a:lnTo>
                  <a:pt x="218555" y="2114026"/>
                </a:lnTo>
                <a:lnTo>
                  <a:pt x="225905" y="2103125"/>
                </a:lnTo>
                <a:lnTo>
                  <a:pt x="228600" y="2089785"/>
                </a:lnTo>
                <a:lnTo>
                  <a:pt x="228600" y="34289"/>
                </a:lnTo>
                <a:lnTo>
                  <a:pt x="225905" y="20949"/>
                </a:lnTo>
                <a:lnTo>
                  <a:pt x="218555" y="10048"/>
                </a:lnTo>
                <a:lnTo>
                  <a:pt x="207656" y="2696"/>
                </a:lnTo>
                <a:lnTo>
                  <a:pt x="194309" y="0"/>
                </a:lnTo>
                <a:close/>
              </a:path>
            </a:pathLst>
          </a:custGeom>
          <a:solidFill>
            <a:srgbClr val="3E4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99216" y="2058584"/>
            <a:ext cx="3709035" cy="16719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80" dirty="0">
                <a:solidFill>
                  <a:srgbClr val="D5E4EE"/>
                </a:solidFill>
                <a:latin typeface="Palatino Linotype"/>
                <a:cs typeface="Palatino Linotype"/>
              </a:rPr>
              <a:t>BookingSteps.java</a:t>
            </a:r>
            <a:endParaRPr sz="2150">
              <a:latin typeface="Palatino Linotype"/>
              <a:cs typeface="Palatino Linotype"/>
            </a:endParaRPr>
          </a:p>
          <a:p>
            <a:pPr marL="12700" marR="5080">
              <a:lnSpc>
                <a:spcPct val="141700"/>
              </a:lnSpc>
              <a:spcBef>
                <a:spcPts val="1675"/>
              </a:spcBef>
            </a:pP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Implements</a:t>
            </a:r>
            <a:r>
              <a:rPr sz="1700" spc="4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search,</a:t>
            </a:r>
            <a:r>
              <a:rPr sz="1700" spc="8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date</a:t>
            </a:r>
            <a:r>
              <a:rPr sz="1700" spc="2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selection, </a:t>
            </a: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price</a:t>
            </a:r>
            <a:r>
              <a:rPr sz="1700" spc="-7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95" dirty="0">
                <a:solidFill>
                  <a:srgbClr val="D5E4EE"/>
                </a:solidFill>
                <a:latin typeface="Trebuchet MS"/>
                <a:cs typeface="Trebuchet MS"/>
              </a:rPr>
              <a:t>filter,</a:t>
            </a:r>
            <a:r>
              <a:rPr sz="1700" spc="-2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and</a:t>
            </a:r>
            <a:r>
              <a:rPr sz="1700" spc="-5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result</a:t>
            </a:r>
            <a:r>
              <a:rPr sz="1700" spc="-2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validation</a:t>
            </a:r>
            <a:r>
              <a:rPr sz="1700" spc="-3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45" dirty="0">
                <a:solidFill>
                  <a:srgbClr val="D5E4EE"/>
                </a:solidFill>
                <a:latin typeface="Trebuchet MS"/>
                <a:cs typeface="Trebuchet MS"/>
              </a:rPr>
              <a:t>using </a:t>
            </a:r>
            <a:r>
              <a:rPr sz="1700" spc="170" dirty="0">
                <a:solidFill>
                  <a:srgbClr val="D5E4EE"/>
                </a:solidFill>
                <a:latin typeface="Trebuchet MS"/>
                <a:cs typeface="Trebuchet MS"/>
              </a:rPr>
              <a:t>POM</a:t>
            </a:r>
            <a:r>
              <a:rPr sz="1700" spc="-7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methods.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69299" y="1834963"/>
            <a:ext cx="228600" cy="2124075"/>
          </a:xfrm>
          <a:custGeom>
            <a:avLst/>
            <a:gdLst/>
            <a:ahLst/>
            <a:cxnLst/>
            <a:rect l="l" t="t" r="r" b="b"/>
            <a:pathLst>
              <a:path w="228600" h="2124075">
                <a:moveTo>
                  <a:pt x="194309" y="0"/>
                </a:moveTo>
                <a:lnTo>
                  <a:pt x="34290" y="0"/>
                </a:lnTo>
                <a:lnTo>
                  <a:pt x="20943" y="2696"/>
                </a:lnTo>
                <a:lnTo>
                  <a:pt x="10044" y="10048"/>
                </a:lnTo>
                <a:lnTo>
                  <a:pt x="2694" y="20949"/>
                </a:lnTo>
                <a:lnTo>
                  <a:pt x="0" y="34289"/>
                </a:lnTo>
                <a:lnTo>
                  <a:pt x="0" y="2089785"/>
                </a:lnTo>
                <a:lnTo>
                  <a:pt x="2694" y="2103125"/>
                </a:lnTo>
                <a:lnTo>
                  <a:pt x="10044" y="2114026"/>
                </a:lnTo>
                <a:lnTo>
                  <a:pt x="20943" y="2121378"/>
                </a:lnTo>
                <a:lnTo>
                  <a:pt x="34290" y="2124075"/>
                </a:lnTo>
                <a:lnTo>
                  <a:pt x="194309" y="2124075"/>
                </a:lnTo>
                <a:lnTo>
                  <a:pt x="207650" y="2121378"/>
                </a:lnTo>
                <a:lnTo>
                  <a:pt x="218551" y="2114026"/>
                </a:lnTo>
                <a:lnTo>
                  <a:pt x="225903" y="2103125"/>
                </a:lnTo>
                <a:lnTo>
                  <a:pt x="228600" y="2089785"/>
                </a:lnTo>
                <a:lnTo>
                  <a:pt x="228600" y="34289"/>
                </a:lnTo>
                <a:lnTo>
                  <a:pt x="225903" y="20949"/>
                </a:lnTo>
                <a:lnTo>
                  <a:pt x="218551" y="10048"/>
                </a:lnTo>
                <a:lnTo>
                  <a:pt x="207650" y="2696"/>
                </a:lnTo>
                <a:lnTo>
                  <a:pt x="194309" y="0"/>
                </a:lnTo>
                <a:close/>
              </a:path>
            </a:pathLst>
          </a:custGeom>
          <a:solidFill>
            <a:srgbClr val="3E4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71299" y="2044830"/>
            <a:ext cx="3079750" cy="16719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150" spc="85" dirty="0">
                <a:solidFill>
                  <a:srgbClr val="D5E4EE"/>
                </a:solidFill>
                <a:latin typeface="Palatino Linotype"/>
                <a:cs typeface="Palatino Linotype"/>
              </a:rPr>
              <a:t>TestHooks</a:t>
            </a:r>
            <a:endParaRPr lang="en-US" sz="2150">
              <a:latin typeface="Palatino Linotype"/>
              <a:cs typeface="Palatino Linotype"/>
            </a:endParaRPr>
          </a:p>
          <a:p>
            <a:pPr marL="12700" marR="5080">
              <a:lnSpc>
                <a:spcPct val="141700"/>
              </a:lnSpc>
              <a:spcBef>
                <a:spcPts val="1675"/>
              </a:spcBef>
            </a:pPr>
            <a:r>
              <a:rPr lang="en-US" sz="1700" spc="110" dirty="0">
                <a:solidFill>
                  <a:srgbClr val="D5E4EE"/>
                </a:solidFill>
                <a:latin typeface="Trebuchet MS"/>
                <a:cs typeface="Trebuchet MS"/>
              </a:rPr>
              <a:t>Manages</a:t>
            </a:r>
            <a:r>
              <a:rPr lang="en-US" sz="1700" spc="-2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lang="en-US" sz="1700" dirty="0">
                <a:solidFill>
                  <a:srgbClr val="D5E4EE"/>
                </a:solidFill>
                <a:latin typeface="Trebuchet MS"/>
                <a:cs typeface="Trebuchet MS"/>
              </a:rPr>
              <a:t>WebDriver</a:t>
            </a:r>
            <a:r>
              <a:rPr lang="en-US" sz="1700" spc="-8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lang="en-US" sz="1700" spc="-10" dirty="0">
                <a:solidFill>
                  <a:srgbClr val="D5E4EE"/>
                </a:solidFill>
                <a:latin typeface="Trebuchet MS"/>
                <a:cs typeface="Trebuchet MS"/>
              </a:rPr>
              <a:t>lifecycle, </a:t>
            </a:r>
            <a:r>
              <a:rPr lang="en-US" sz="1700" dirty="0">
                <a:solidFill>
                  <a:srgbClr val="D5E4EE"/>
                </a:solidFill>
                <a:latin typeface="Trebuchet MS"/>
                <a:cs typeface="Trebuchet MS"/>
              </a:rPr>
              <a:t>attaches</a:t>
            </a:r>
            <a:r>
              <a:rPr lang="en-US" sz="1700" spc="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lang="en-US" sz="1700" spc="55" dirty="0">
                <a:solidFill>
                  <a:srgbClr val="D5E4EE"/>
                </a:solidFill>
                <a:latin typeface="Trebuchet MS"/>
                <a:cs typeface="Trebuchet MS"/>
              </a:rPr>
              <a:t>screenshots</a:t>
            </a:r>
            <a:r>
              <a:rPr lang="en-US" sz="1700" spc="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lang="en-US" sz="1700" spc="-140" dirty="0">
                <a:solidFill>
                  <a:srgbClr val="D5E4EE"/>
                </a:solidFill>
                <a:latin typeface="Trebuchet MS"/>
                <a:cs typeface="Trebuchet MS"/>
              </a:rPr>
              <a:t>&amp;</a:t>
            </a:r>
            <a:r>
              <a:rPr lang="en-US" sz="1700" spc="-3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lang="en-US" sz="1700" spc="100" dirty="0">
                <a:solidFill>
                  <a:srgbClr val="D5E4EE"/>
                </a:solidFill>
                <a:latin typeface="Trebuchet MS"/>
                <a:cs typeface="Trebuchet MS"/>
              </a:rPr>
              <a:t>logs</a:t>
            </a:r>
            <a:r>
              <a:rPr lang="en-US" sz="1700" spc="-8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lang="en-US" sz="1700" spc="-25" dirty="0">
                <a:solidFill>
                  <a:srgbClr val="D5E4EE"/>
                </a:solidFill>
                <a:latin typeface="Trebuchet MS"/>
                <a:cs typeface="Trebuchet MS"/>
              </a:rPr>
              <a:t>to </a:t>
            </a:r>
            <a:r>
              <a:rPr lang="en-US" sz="1700" spc="-50" dirty="0">
                <a:solidFill>
                  <a:srgbClr val="D5E4EE"/>
                </a:solidFill>
                <a:latin typeface="Trebuchet MS"/>
                <a:cs typeface="Trebuchet MS"/>
              </a:rPr>
              <a:t>Allure,</a:t>
            </a:r>
            <a:r>
              <a:rPr lang="en-US" sz="1700" spc="1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lang="en-US" sz="1700" spc="80" dirty="0">
                <a:solidFill>
                  <a:srgbClr val="D5E4EE"/>
                </a:solidFill>
                <a:latin typeface="Trebuchet MS"/>
                <a:cs typeface="Trebuchet MS"/>
              </a:rPr>
              <a:t>logs</a:t>
            </a:r>
            <a:r>
              <a:rPr lang="en-US" sz="1700" spc="7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lang="en-US" sz="1700" dirty="0">
                <a:solidFill>
                  <a:srgbClr val="D5E4EE"/>
                </a:solidFill>
                <a:latin typeface="Trebuchet MS"/>
                <a:cs typeface="Trebuchet MS"/>
              </a:rPr>
              <a:t>scenario</a:t>
            </a:r>
            <a:r>
              <a:rPr lang="en-US" sz="1700" spc="5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lang="en-US" sz="1700" spc="-10" dirty="0">
                <a:solidFill>
                  <a:srgbClr val="D5E4EE"/>
                </a:solidFill>
                <a:latin typeface="Trebuchet MS"/>
                <a:cs typeface="Trebuchet MS"/>
              </a:rPr>
              <a:t>status.</a:t>
            </a:r>
            <a:endParaRPr lang="en-US" sz="1700">
              <a:latin typeface="Trebuchet MS"/>
              <a:cs typeface="Trebuchet MS"/>
            </a:endParaRPr>
          </a:p>
        </p:txBody>
      </p:sp>
      <p:pic>
        <p:nvPicPr>
          <p:cNvPr id="7" name="object 7" descr="preencoded.png"/>
          <p:cNvPicPr/>
          <p:nvPr/>
        </p:nvPicPr>
        <p:blipFill>
          <a:blip r:embed="rId2" cstate="print"/>
          <a:srcRect l="19805" t="12607" r="19318" b="15186"/>
          <a:stretch>
            <a:fillRect/>
          </a:stretch>
        </p:blipFill>
        <p:spPr>
          <a:xfrm>
            <a:off x="8913603" y="551453"/>
            <a:ext cx="5038930" cy="3383833"/>
          </a:xfrm>
          <a:prstGeom prst="rect">
            <a:avLst/>
          </a:prstGeom>
        </p:spPr>
      </p:pic>
      <p:sp>
        <p:nvSpPr>
          <p:cNvPr id="8" name="object 6">
            <a:extLst>
              <a:ext uri="{FF2B5EF4-FFF2-40B4-BE49-F238E27FC236}">
                <a16:creationId xmlns:a16="http://schemas.microsoft.com/office/drawing/2014/main" id="{8FF7E2E9-1B1A-FE39-3087-91A539DCFD2F}"/>
              </a:ext>
            </a:extLst>
          </p:cNvPr>
          <p:cNvSpPr txBox="1"/>
          <p:nvPr/>
        </p:nvSpPr>
        <p:spPr>
          <a:xfrm>
            <a:off x="311793" y="4599770"/>
            <a:ext cx="5930526" cy="3045064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en-US" sz="2150" spc="85" dirty="0">
                <a:solidFill>
                  <a:srgbClr val="D5E4EE"/>
                </a:solidFill>
              </a:rPr>
              <a:t>BookingSteps.java Responsibilities Manages various actions:</a:t>
            </a:r>
            <a:endParaRPr lang="en-US" dirty="0">
              <a:solidFill>
                <a:srgbClr val="000000"/>
              </a:solidFill>
            </a:endParaRPr>
          </a:p>
          <a:p>
            <a:pPr marL="12700">
              <a:spcBef>
                <a:spcPts val="125"/>
              </a:spcBef>
            </a:pPr>
            <a:r>
              <a:rPr lang="en-US" sz="2150" spc="85" dirty="0">
                <a:solidFill>
                  <a:srgbClr val="D5E4EE"/>
                </a:solidFill>
              </a:rPr>
              <a:t> • Interactions with search boxes. </a:t>
            </a:r>
            <a:endParaRPr lang="en-US">
              <a:solidFill>
                <a:srgbClr val="000000"/>
              </a:solidFill>
            </a:endParaRPr>
          </a:p>
          <a:p>
            <a:pPr marL="12700">
              <a:spcBef>
                <a:spcPts val="125"/>
              </a:spcBef>
            </a:pPr>
            <a:r>
              <a:rPr lang="en-US" sz="2150" spc="85" dirty="0">
                <a:solidFill>
                  <a:srgbClr val="D5E4EE"/>
                </a:solidFill>
              </a:rPr>
              <a:t>• Date selection logic. </a:t>
            </a:r>
            <a:endParaRPr lang="en-US">
              <a:solidFill>
                <a:srgbClr val="000000"/>
              </a:solidFill>
            </a:endParaRPr>
          </a:p>
          <a:p>
            <a:pPr marL="12700">
              <a:spcBef>
                <a:spcPts val="125"/>
              </a:spcBef>
            </a:pPr>
            <a:r>
              <a:rPr lang="en-US" sz="2150" spc="85" dirty="0">
                <a:solidFill>
                  <a:srgbClr val="D5E4EE"/>
                </a:solidFill>
              </a:rPr>
              <a:t>• Applying price filters.</a:t>
            </a:r>
            <a:endParaRPr lang="en-US" dirty="0">
              <a:solidFill>
                <a:srgbClr val="000000"/>
              </a:solidFill>
            </a:endParaRPr>
          </a:p>
          <a:p>
            <a:pPr marL="12700">
              <a:spcBef>
                <a:spcPts val="125"/>
              </a:spcBef>
            </a:pPr>
            <a:r>
              <a:rPr lang="en-US" sz="2150" spc="85" dirty="0">
                <a:solidFill>
                  <a:srgbClr val="D5E4EE"/>
                </a:solidFill>
              </a:rPr>
              <a:t> • Validation of test results. </a:t>
            </a:r>
            <a:endParaRPr lang="en-US">
              <a:solidFill>
                <a:srgbClr val="000000"/>
              </a:solidFill>
            </a:endParaRPr>
          </a:p>
          <a:p>
            <a:pPr marL="12700">
              <a:spcBef>
                <a:spcPts val="125"/>
              </a:spcBef>
            </a:pPr>
            <a:r>
              <a:rPr lang="en-US" sz="2150" spc="85" dirty="0">
                <a:solidFill>
                  <a:srgbClr val="D5E4EE"/>
                </a:solidFill>
              </a:rPr>
              <a:t>Crucially, it calls POM methods to maintain a clean separation of concerns between test logic and page interactions</a:t>
            </a:r>
            <a:endParaRPr lang="en-US"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EED9106F-2F5E-5FA2-D507-99D6EF297914}"/>
              </a:ext>
            </a:extLst>
          </p:cNvPr>
          <p:cNvSpPr txBox="1"/>
          <p:nvPr/>
        </p:nvSpPr>
        <p:spPr>
          <a:xfrm>
            <a:off x="6712593" y="4599771"/>
            <a:ext cx="6535644" cy="3388748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en-US" sz="2150" spc="85" dirty="0">
                <a:solidFill>
                  <a:srgbClr val="D5E4EE"/>
                </a:solidFill>
              </a:rPr>
              <a:t>TestHooks.java Management Handles critical lifecycle events:</a:t>
            </a:r>
            <a:endParaRPr lang="en-US" dirty="0">
              <a:solidFill>
                <a:srgbClr val="000000"/>
              </a:solidFill>
            </a:endParaRPr>
          </a:p>
          <a:p>
            <a:pPr marL="12700">
              <a:spcBef>
                <a:spcPts val="125"/>
              </a:spcBef>
            </a:pPr>
            <a:r>
              <a:rPr lang="en-US" sz="2150" spc="85" dirty="0">
                <a:solidFill>
                  <a:srgbClr val="D5E4EE"/>
                </a:solidFill>
              </a:rPr>
              <a:t>• WebDriver initialization before scenarios. </a:t>
            </a:r>
            <a:endParaRPr lang="en-US">
              <a:solidFill>
                <a:srgbClr val="000000"/>
              </a:solidFill>
            </a:endParaRPr>
          </a:p>
          <a:p>
            <a:pPr marL="12700">
              <a:spcBef>
                <a:spcPts val="125"/>
              </a:spcBef>
            </a:pPr>
            <a:r>
              <a:rPr lang="en-US" sz="2150" spc="85" dirty="0">
                <a:solidFill>
                  <a:srgbClr val="D5E4EE"/>
                </a:solidFill>
              </a:rPr>
              <a:t>Proper WebDriver termination after scenarios.</a:t>
            </a:r>
            <a:endParaRPr lang="en-US" dirty="0">
              <a:solidFill>
                <a:srgbClr val="000000"/>
              </a:solidFill>
            </a:endParaRPr>
          </a:p>
          <a:p>
            <a:pPr marL="12700">
              <a:spcBef>
                <a:spcPts val="125"/>
              </a:spcBef>
            </a:pPr>
            <a:r>
              <a:rPr lang="en-US" sz="2150" spc="85" dirty="0">
                <a:solidFill>
                  <a:srgbClr val="D5E4EE"/>
                </a:solidFill>
              </a:rPr>
              <a:t> • Capturing screenshots on both test success and failure. </a:t>
            </a:r>
            <a:endParaRPr lang="en-US">
              <a:solidFill>
                <a:srgbClr val="000000"/>
              </a:solidFill>
            </a:endParaRPr>
          </a:p>
          <a:p>
            <a:pPr marL="12700">
              <a:spcBef>
                <a:spcPts val="125"/>
              </a:spcBef>
            </a:pPr>
            <a:r>
              <a:rPr lang="en-US" sz="2150" spc="85" dirty="0">
                <a:solidFill>
                  <a:srgbClr val="D5E4EE"/>
                </a:solidFill>
              </a:rPr>
              <a:t>• Attaching logs and screenshots directly to Allure reports. </a:t>
            </a:r>
            <a:endParaRPr lang="en-US">
              <a:solidFill>
                <a:srgbClr val="000000"/>
              </a:solidFill>
            </a:endParaRPr>
          </a:p>
          <a:p>
            <a:pPr marL="12700">
              <a:spcBef>
                <a:spcPts val="125"/>
              </a:spcBef>
            </a:pPr>
            <a:r>
              <a:rPr lang="en-US" sz="2150" spc="85" dirty="0">
                <a:solidFill>
                  <a:srgbClr val="D5E4EE"/>
                </a:solidFill>
              </a:rPr>
              <a:t>• Logging scenario statuses for clear execution flow tracking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59286" y="3996"/>
            <a:ext cx="8221345" cy="1133729"/>
          </a:xfrm>
          <a:prstGeom prst="rect">
            <a:avLst/>
          </a:prstGeom>
        </p:spPr>
        <p:txBody>
          <a:bodyPr vert="horz" wrap="square" lIns="0" tIns="449199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130"/>
              </a:spcBef>
            </a:pPr>
            <a:r>
              <a:rPr lang="en-US" sz="4400" spc="70" dirty="0"/>
              <a:t>Allure</a:t>
            </a:r>
            <a:r>
              <a:rPr lang="en-US" sz="4400" dirty="0"/>
              <a:t> </a:t>
            </a:r>
            <a:r>
              <a:rPr lang="en-US" sz="4400" spc="95" dirty="0"/>
              <a:t>Reporting</a:t>
            </a:r>
            <a:endParaRPr lang="en-US" sz="4400"/>
          </a:p>
        </p:txBody>
      </p:sp>
      <p:sp>
        <p:nvSpPr>
          <p:cNvPr id="4" name="object 4"/>
          <p:cNvSpPr txBox="1"/>
          <p:nvPr/>
        </p:nvSpPr>
        <p:spPr>
          <a:xfrm>
            <a:off x="8404531" y="2634850"/>
            <a:ext cx="5325356" cy="147091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85"/>
              </a:spcBef>
              <a:buChar char="•"/>
              <a:tabLst>
                <a:tab pos="355600" algn="l"/>
              </a:tabLst>
            </a:pPr>
            <a:r>
              <a:rPr lang="en-US" sz="1700" dirty="0">
                <a:solidFill>
                  <a:srgbClr val="D5E4EE"/>
                </a:solidFill>
                <a:latin typeface="Trebuchet MS"/>
                <a:cs typeface="Trebuchet MS"/>
              </a:rPr>
              <a:t>Dependency:</a:t>
            </a:r>
            <a:r>
              <a:rPr lang="en-US" sz="1700" spc="21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lang="en-US" sz="1700" spc="-45" dirty="0">
                <a:solidFill>
                  <a:srgbClr val="D5E4EE"/>
                </a:solidFill>
                <a:latin typeface="Trebuchet MS"/>
                <a:cs typeface="Trebuchet MS"/>
              </a:rPr>
              <a:t>allure-</a:t>
            </a:r>
            <a:r>
              <a:rPr lang="en-US" sz="1700" dirty="0">
                <a:solidFill>
                  <a:srgbClr val="D5E4EE"/>
                </a:solidFill>
                <a:latin typeface="Trebuchet MS"/>
                <a:cs typeface="Trebuchet MS"/>
              </a:rPr>
              <a:t>cucumber7-</a:t>
            </a:r>
            <a:r>
              <a:rPr lang="en-US" sz="1700" spc="-25" dirty="0">
                <a:solidFill>
                  <a:srgbClr val="D5E4EE"/>
                </a:solidFill>
                <a:latin typeface="Trebuchet MS"/>
                <a:cs typeface="Trebuchet MS"/>
              </a:rPr>
              <a:t>jvm</a:t>
            </a:r>
            <a:endParaRPr lang="en-US" sz="17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890"/>
              </a:spcBef>
              <a:buChar char="•"/>
              <a:tabLst>
                <a:tab pos="355600" algn="l"/>
              </a:tabLst>
            </a:pPr>
            <a:r>
              <a:rPr lang="en-US" sz="1700" dirty="0">
                <a:solidFill>
                  <a:srgbClr val="D5E4EE"/>
                </a:solidFill>
                <a:latin typeface="Trebuchet MS"/>
                <a:cs typeface="Trebuchet MS"/>
              </a:rPr>
              <a:t>Attached</a:t>
            </a:r>
            <a:r>
              <a:rPr lang="en-US" sz="1700" spc="-1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lang="en-US" sz="1700" spc="50" dirty="0">
                <a:solidFill>
                  <a:srgbClr val="D5E4EE"/>
                </a:solidFill>
                <a:latin typeface="Trebuchet MS"/>
                <a:cs typeface="Trebuchet MS"/>
              </a:rPr>
              <a:t>screenshots</a:t>
            </a:r>
            <a:r>
              <a:rPr lang="en-US" sz="1700" spc="-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lang="en-US" sz="1700" dirty="0">
                <a:solidFill>
                  <a:srgbClr val="D5E4EE"/>
                </a:solidFill>
                <a:latin typeface="Trebuchet MS"/>
                <a:cs typeface="Trebuchet MS"/>
              </a:rPr>
              <a:t>on</a:t>
            </a:r>
            <a:r>
              <a:rPr lang="en-US" sz="1700" spc="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lang="en-US" sz="1700" spc="120" dirty="0">
                <a:solidFill>
                  <a:srgbClr val="D5E4EE"/>
                </a:solidFill>
                <a:latin typeface="Trebuchet MS"/>
                <a:cs typeface="Trebuchet MS"/>
              </a:rPr>
              <a:t>pass</a:t>
            </a:r>
            <a:r>
              <a:rPr lang="en-US" sz="1700" spc="-9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lang="en-US" sz="1700" spc="-140" dirty="0">
                <a:solidFill>
                  <a:srgbClr val="D5E4EE"/>
                </a:solidFill>
                <a:latin typeface="Trebuchet MS"/>
                <a:cs typeface="Trebuchet MS"/>
              </a:rPr>
              <a:t>&amp;</a:t>
            </a:r>
            <a:r>
              <a:rPr lang="en-US" sz="1700" spc="4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lang="en-US" sz="1700" spc="-20" dirty="0">
                <a:solidFill>
                  <a:srgbClr val="D5E4EE"/>
                </a:solidFill>
                <a:latin typeface="Trebuchet MS"/>
                <a:cs typeface="Trebuchet MS"/>
              </a:rPr>
              <a:t>fail</a:t>
            </a:r>
            <a:endParaRPr lang="en-US" sz="17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810"/>
              </a:spcBef>
              <a:buChar char="•"/>
              <a:tabLst>
                <a:tab pos="355600" algn="l"/>
              </a:tabLst>
            </a:pPr>
            <a:r>
              <a:rPr lang="en-US" sz="1700" dirty="0">
                <a:solidFill>
                  <a:srgbClr val="D5E4EE"/>
                </a:solidFill>
                <a:latin typeface="Trebuchet MS"/>
                <a:cs typeface="Trebuchet MS"/>
              </a:rPr>
              <a:t>Attached</a:t>
            </a:r>
            <a:r>
              <a:rPr lang="en-US" sz="1700" spc="5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lang="en-US" sz="1700" dirty="0">
                <a:solidFill>
                  <a:srgbClr val="D5E4EE"/>
                </a:solidFill>
                <a:latin typeface="Trebuchet MS"/>
                <a:cs typeface="Trebuchet MS"/>
              </a:rPr>
              <a:t>automation</a:t>
            </a:r>
            <a:r>
              <a:rPr lang="en-US" sz="1700" spc="7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lang="en-US" sz="1700" spc="55" dirty="0">
                <a:solidFill>
                  <a:srgbClr val="D5E4EE"/>
                </a:solidFill>
                <a:latin typeface="Trebuchet MS"/>
                <a:cs typeface="Trebuchet MS"/>
              </a:rPr>
              <a:t>logs</a:t>
            </a:r>
            <a:endParaRPr lang="en-US" sz="1700">
              <a:latin typeface="Trebuchet MS"/>
              <a:cs typeface="Trebuchet MS"/>
            </a:endParaRPr>
          </a:p>
          <a:p>
            <a:pPr marL="355600" marR="5080" indent="-343535">
              <a:lnSpc>
                <a:spcPts val="293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lang="en-US" sz="1700" dirty="0">
                <a:solidFill>
                  <a:srgbClr val="D5E4EE"/>
                </a:solidFill>
                <a:latin typeface="Trebuchet MS"/>
                <a:cs typeface="Trebuchet MS"/>
              </a:rPr>
              <a:t>Command: </a:t>
            </a:r>
            <a:r>
              <a:rPr lang="en-US" sz="1700" spc="-25" dirty="0">
                <a:solidFill>
                  <a:srgbClr val="D5E4EE"/>
                </a:solidFill>
                <a:latin typeface="Trebuchet MS"/>
                <a:cs typeface="Trebuchet MS"/>
              </a:rPr>
              <a:t>allure </a:t>
            </a:r>
            <a:r>
              <a:rPr lang="en-US" sz="1700" dirty="0">
                <a:solidFill>
                  <a:srgbClr val="D5E4EE"/>
                </a:solidFill>
                <a:latin typeface="Trebuchet MS"/>
                <a:cs typeface="Trebuchet MS"/>
              </a:rPr>
              <a:t>serve </a:t>
            </a:r>
            <a:r>
              <a:rPr lang="en-US" sz="1700" spc="-35" dirty="0">
                <a:solidFill>
                  <a:srgbClr val="D5E4EE"/>
                </a:solidFill>
                <a:latin typeface="Trebuchet MS"/>
                <a:cs typeface="Trebuchet MS"/>
              </a:rPr>
              <a:t>target/allure-</a:t>
            </a:r>
            <a:r>
              <a:rPr lang="en-US" sz="1700" spc="-10" dirty="0">
                <a:solidFill>
                  <a:srgbClr val="D5E4EE"/>
                </a:solidFill>
                <a:latin typeface="Trebuchet MS"/>
                <a:cs typeface="Trebuchet MS"/>
              </a:rPr>
              <a:t>results</a:t>
            </a:r>
            <a:endParaRPr lang="en-US" sz="1700">
              <a:latin typeface="Trebuchet MS"/>
              <a:cs typeface="Trebuchet MS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F1E2AB-E157-74DB-19C1-0C1B475D3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87" y="1348595"/>
            <a:ext cx="6520588" cy="63693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16268" cy="8229600"/>
          </a:xfrm>
          <a:prstGeom prst="rect">
            <a:avLst/>
          </a:prstGeom>
          <a:solidFill>
            <a:srgbClr val="575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45510A-2BFE-BF87-9FF3-A6466B90C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2489235"/>
            <a:ext cx="3302824" cy="325113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Allure Report: Screenshot For Success Case:</a:t>
            </a:r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FD195CB8-24D2-68B0-0019-3AA0E14D3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2883" y="1562784"/>
            <a:ext cx="10315154" cy="507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486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05"/>
              </a:spcBef>
            </a:pPr>
            <a:r>
              <a:rPr spc="50" dirty="0"/>
              <a:t>Logging</a:t>
            </a:r>
            <a:r>
              <a:rPr spc="-25" dirty="0"/>
              <a:t> </a:t>
            </a:r>
            <a:r>
              <a:rPr spc="165" dirty="0"/>
              <a:t>with</a:t>
            </a:r>
            <a:r>
              <a:rPr spc="30" dirty="0"/>
              <a:t> </a:t>
            </a:r>
            <a:r>
              <a:rPr spc="75" dirty="0"/>
              <a:t>Log4j2</a:t>
            </a:r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0482" y="1527229"/>
            <a:ext cx="4257675" cy="5676900"/>
          </a:xfrm>
          <a:prstGeom prst="rect">
            <a:avLst/>
          </a:prstGeom>
        </p:spPr>
      </p:pic>
      <p:pic>
        <p:nvPicPr>
          <p:cNvPr id="4" name="object 4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73510" y="1473953"/>
            <a:ext cx="104773" cy="5238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976024" y="1333046"/>
            <a:ext cx="3524885" cy="1205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80" dirty="0">
                <a:solidFill>
                  <a:srgbClr val="D5E4EE"/>
                </a:solidFill>
                <a:latin typeface="Palatino Linotype"/>
                <a:cs typeface="Palatino Linotype"/>
              </a:rPr>
              <a:t>Files</a:t>
            </a:r>
            <a:endParaRPr sz="2100">
              <a:latin typeface="Palatino Linotype"/>
              <a:cs typeface="Palatino Linotype"/>
            </a:endParaRPr>
          </a:p>
          <a:p>
            <a:pPr marL="12700" marR="5080">
              <a:lnSpc>
                <a:spcPct val="132700"/>
              </a:lnSpc>
              <a:spcBef>
                <a:spcPts val="1520"/>
              </a:spcBef>
            </a:pPr>
            <a:r>
              <a:rPr sz="1650" spc="-20" dirty="0">
                <a:solidFill>
                  <a:srgbClr val="D5E4EE"/>
                </a:solidFill>
                <a:latin typeface="Trebuchet MS"/>
                <a:cs typeface="Trebuchet MS"/>
              </a:rPr>
              <a:t>automation.log</a:t>
            </a:r>
            <a:r>
              <a:rPr sz="1650" spc="-1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D5E4EE"/>
                </a:solidFill>
                <a:latin typeface="Trebuchet MS"/>
                <a:cs typeface="Trebuchet MS"/>
              </a:rPr>
              <a:t>(INFO/WARN/ERROR) </a:t>
            </a:r>
            <a:r>
              <a:rPr sz="1650" dirty="0">
                <a:solidFill>
                  <a:srgbClr val="D5E4EE"/>
                </a:solidFill>
                <a:latin typeface="Trebuchet MS"/>
                <a:cs typeface="Trebuchet MS"/>
              </a:rPr>
              <a:t>and</a:t>
            </a:r>
            <a:r>
              <a:rPr sz="1650" spc="-8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45" dirty="0">
                <a:solidFill>
                  <a:srgbClr val="D5E4EE"/>
                </a:solidFill>
                <a:latin typeface="Trebuchet MS"/>
                <a:cs typeface="Trebuchet MS"/>
              </a:rPr>
              <a:t>error.log</a:t>
            </a:r>
            <a:r>
              <a:rPr sz="1650" spc="-8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D5E4EE"/>
                </a:solidFill>
                <a:latin typeface="Trebuchet MS"/>
                <a:cs typeface="Trebuchet MS"/>
              </a:rPr>
              <a:t>(errors</a:t>
            </a:r>
            <a:r>
              <a:rPr sz="1650" spc="-7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D5E4EE"/>
                </a:solidFill>
                <a:latin typeface="Trebuchet MS"/>
                <a:cs typeface="Trebuchet MS"/>
              </a:rPr>
              <a:t>only).</a:t>
            </a:r>
            <a:endParaRPr sz="1650">
              <a:latin typeface="Trebuchet MS"/>
              <a:cs typeface="Trebuchet MS"/>
            </a:endParaRPr>
          </a:p>
        </p:txBody>
      </p:sp>
      <p:pic>
        <p:nvPicPr>
          <p:cNvPr id="6" name="object 6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78810" y="1473953"/>
            <a:ext cx="104773" cy="5238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281069" y="1333046"/>
            <a:ext cx="3637915" cy="120586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D5E4EE"/>
                </a:solidFill>
                <a:latin typeface="Palatino Linotype"/>
                <a:cs typeface="Palatino Linotype"/>
              </a:rPr>
              <a:t>Captured</a:t>
            </a:r>
            <a:r>
              <a:rPr sz="2100" spc="20" dirty="0">
                <a:solidFill>
                  <a:srgbClr val="D5E4EE"/>
                </a:solidFill>
                <a:latin typeface="Palatino Linotype"/>
                <a:cs typeface="Palatino Linotype"/>
              </a:rPr>
              <a:t> </a:t>
            </a:r>
            <a:r>
              <a:rPr sz="2100" spc="90" dirty="0">
                <a:solidFill>
                  <a:srgbClr val="D5E4EE"/>
                </a:solidFill>
                <a:latin typeface="Palatino Linotype"/>
                <a:cs typeface="Palatino Linotype"/>
              </a:rPr>
              <a:t>Events</a:t>
            </a:r>
            <a:endParaRPr sz="2100">
              <a:latin typeface="Palatino Linotype"/>
              <a:cs typeface="Palatino Linotype"/>
            </a:endParaRPr>
          </a:p>
          <a:p>
            <a:pPr marL="12700" marR="5080">
              <a:lnSpc>
                <a:spcPct val="132700"/>
              </a:lnSpc>
              <a:spcBef>
                <a:spcPts val="1520"/>
              </a:spcBef>
            </a:pPr>
            <a:r>
              <a:rPr sz="1650" dirty="0">
                <a:solidFill>
                  <a:srgbClr val="D5E4EE"/>
                </a:solidFill>
                <a:latin typeface="Trebuchet MS"/>
                <a:cs typeface="Trebuchet MS"/>
              </a:rPr>
              <a:t>Browser</a:t>
            </a:r>
            <a:r>
              <a:rPr sz="1650" spc="-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40" dirty="0">
                <a:solidFill>
                  <a:srgbClr val="D5E4EE"/>
                </a:solidFill>
                <a:latin typeface="Trebuchet MS"/>
                <a:cs typeface="Trebuchet MS"/>
              </a:rPr>
              <a:t>launch,</a:t>
            </a:r>
            <a:r>
              <a:rPr sz="1650" spc="-7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40" dirty="0">
                <a:solidFill>
                  <a:srgbClr val="D5E4EE"/>
                </a:solidFill>
                <a:latin typeface="Trebuchet MS"/>
                <a:cs typeface="Trebuchet MS"/>
              </a:rPr>
              <a:t>navigation,</a:t>
            </a:r>
            <a:r>
              <a:rPr sz="1650" spc="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D5E4EE"/>
                </a:solidFill>
                <a:latin typeface="Trebuchet MS"/>
                <a:cs typeface="Trebuchet MS"/>
              </a:rPr>
              <a:t>clicks, </a:t>
            </a:r>
            <a:r>
              <a:rPr sz="1650" spc="-20" dirty="0">
                <a:solidFill>
                  <a:srgbClr val="D5E4EE"/>
                </a:solidFill>
                <a:latin typeface="Trebuchet MS"/>
                <a:cs typeface="Trebuchet MS"/>
              </a:rPr>
              <a:t>date</a:t>
            </a:r>
            <a:r>
              <a:rPr sz="1650" spc="-9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40" dirty="0">
                <a:solidFill>
                  <a:srgbClr val="D5E4EE"/>
                </a:solidFill>
                <a:latin typeface="Trebuchet MS"/>
                <a:cs typeface="Trebuchet MS"/>
              </a:rPr>
              <a:t>selection,</a:t>
            </a:r>
            <a:r>
              <a:rPr sz="1650" spc="-7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D5E4EE"/>
                </a:solidFill>
                <a:latin typeface="Trebuchet MS"/>
                <a:cs typeface="Trebuchet MS"/>
              </a:rPr>
              <a:t>failures</a:t>
            </a:r>
            <a:r>
              <a:rPr lang="en-US" sz="1650" spc="-10" dirty="0">
                <a:solidFill>
                  <a:srgbClr val="D5E4EE"/>
                </a:solidFill>
                <a:latin typeface="Trebuchet MS"/>
                <a:cs typeface="Trebuchet MS"/>
              </a:rPr>
              <a:t>, Closing.</a:t>
            </a:r>
            <a:endParaRPr sz="1650" dirty="0">
              <a:latin typeface="Trebuchet MS"/>
              <a:cs typeface="Trebuchet MS"/>
            </a:endParaRPr>
          </a:p>
        </p:txBody>
      </p:sp>
      <p:pic>
        <p:nvPicPr>
          <p:cNvPr id="8" name="object 8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73510" y="3083678"/>
            <a:ext cx="104773" cy="5238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976024" y="2912663"/>
            <a:ext cx="7778750" cy="1205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65" dirty="0">
                <a:solidFill>
                  <a:srgbClr val="D5E4EE"/>
                </a:solidFill>
                <a:latin typeface="Palatino Linotype"/>
                <a:cs typeface="Palatino Linotype"/>
              </a:rPr>
              <a:t>Benefits</a:t>
            </a:r>
            <a:endParaRPr sz="2100">
              <a:latin typeface="Palatino Linotype"/>
              <a:cs typeface="Palatino Linotype"/>
            </a:endParaRPr>
          </a:p>
          <a:p>
            <a:pPr marL="12700" marR="5080">
              <a:lnSpc>
                <a:spcPct val="132700"/>
              </a:lnSpc>
              <a:spcBef>
                <a:spcPts val="1520"/>
              </a:spcBef>
            </a:pPr>
            <a:r>
              <a:rPr sz="1650" dirty="0">
                <a:solidFill>
                  <a:srgbClr val="D5E4EE"/>
                </a:solidFill>
                <a:latin typeface="Trebuchet MS"/>
                <a:cs typeface="Trebuchet MS"/>
              </a:rPr>
              <a:t>Simplifies</a:t>
            </a:r>
            <a:r>
              <a:rPr sz="1650" spc="-5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D5E4EE"/>
                </a:solidFill>
                <a:latin typeface="Trebuchet MS"/>
                <a:cs typeface="Trebuchet MS"/>
              </a:rPr>
              <a:t>debugging,</a:t>
            </a:r>
            <a:r>
              <a:rPr sz="1650" spc="-4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D5E4EE"/>
                </a:solidFill>
                <a:latin typeface="Trebuchet MS"/>
                <a:cs typeface="Trebuchet MS"/>
              </a:rPr>
              <a:t>supports</a:t>
            </a:r>
            <a:r>
              <a:rPr sz="1650" spc="-5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20" dirty="0">
                <a:solidFill>
                  <a:srgbClr val="D5E4EE"/>
                </a:solidFill>
                <a:latin typeface="Trebuchet MS"/>
                <a:cs typeface="Trebuchet MS"/>
              </a:rPr>
              <a:t>development</a:t>
            </a:r>
            <a:r>
              <a:rPr sz="1650" spc="-3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D5E4EE"/>
                </a:solidFill>
                <a:latin typeface="Trebuchet MS"/>
                <a:cs typeface="Trebuchet MS"/>
              </a:rPr>
              <a:t>and</a:t>
            </a:r>
            <a:r>
              <a:rPr sz="1650" spc="-5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20" dirty="0">
                <a:solidFill>
                  <a:srgbClr val="D5E4EE"/>
                </a:solidFill>
                <a:latin typeface="Trebuchet MS"/>
                <a:cs typeface="Trebuchet MS"/>
              </a:rPr>
              <a:t>production</a:t>
            </a:r>
            <a:r>
              <a:rPr sz="1650" spc="-3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D5E4EE"/>
                </a:solidFill>
                <a:latin typeface="Trebuchet MS"/>
                <a:cs typeface="Trebuchet MS"/>
              </a:rPr>
              <a:t>diagnostics,</a:t>
            </a:r>
            <a:r>
              <a:rPr sz="1650" spc="-4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D5E4EE"/>
                </a:solidFill>
                <a:latin typeface="Trebuchet MS"/>
                <a:cs typeface="Trebuchet MS"/>
              </a:rPr>
              <a:t>integrates </a:t>
            </a:r>
            <a:r>
              <a:rPr sz="1650" spc="-50" dirty="0">
                <a:solidFill>
                  <a:srgbClr val="D5E4EE"/>
                </a:solidFill>
                <a:latin typeface="Trebuchet MS"/>
                <a:cs typeface="Trebuchet MS"/>
              </a:rPr>
              <a:t>with </a:t>
            </a:r>
            <a:r>
              <a:rPr sz="1650" spc="-10" dirty="0">
                <a:solidFill>
                  <a:srgbClr val="D5E4EE"/>
                </a:solidFill>
                <a:latin typeface="Trebuchet MS"/>
                <a:cs typeface="Trebuchet MS"/>
              </a:rPr>
              <a:t>Allure.</a:t>
            </a:r>
            <a:endParaRPr sz="1650">
              <a:latin typeface="Trebuchet MS"/>
              <a:cs typeface="Trebuchet MS"/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EACF2B-DEC9-A5B5-B287-A11E100DFE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32" r="17837" b="-5298"/>
          <a:stretch>
            <a:fillRect/>
          </a:stretch>
        </p:blipFill>
        <p:spPr>
          <a:xfrm>
            <a:off x="5381868" y="4370441"/>
            <a:ext cx="8770022" cy="28045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DBADA-F6C1-EB31-8F6F-19952134A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007" y="514984"/>
            <a:ext cx="8221345" cy="646331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dirty="0"/>
              <a:t>Problem Faces during this project: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06229-22A5-7280-ADF6-F11DF3A2B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636" y="1518054"/>
            <a:ext cx="12616031" cy="4847481"/>
          </a:xfrm>
        </p:spPr>
        <p:txBody>
          <a:bodyPr wrap="square" lIns="0" tIns="0" rIns="0" bIns="0" anchor="t">
            <a:spAutoFit/>
          </a:bodyPr>
          <a:lstStyle/>
          <a:p>
            <a:pPr algn="l">
              <a:buFont typeface="Arial"/>
              <a:buChar char="•"/>
            </a:pPr>
            <a:r>
              <a:rPr lang="en-US" sz="2300" b="1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 Unstable XPaths &amp; Dynamic Elements</a:t>
            </a:r>
            <a:br>
              <a:rPr lang="en-US" sz="1100" b="1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</a:br>
            <a:r>
              <a:rPr lang="en-US" sz="1100" b="1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Issues selecting dates, search fields, and filters due to changing DOM.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2000" b="1" dirty="0">
              <a:solidFill>
                <a:schemeClr val="bg1"/>
              </a:solidFill>
              <a:latin typeface="Segoe UI"/>
              <a:ea typeface="Calibri"/>
              <a:cs typeface="Segoe UI"/>
            </a:endParaRPr>
          </a:p>
          <a:p>
            <a:pPr algn="l">
              <a:buFont typeface="Arial"/>
              <a:buChar char="•"/>
            </a:pPr>
            <a:r>
              <a:rPr lang="en-US" sz="2300" b="1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 Driver &amp; Hook Initialization Errors</a:t>
            </a:r>
            <a:br>
              <a:rPr lang="en-US" sz="2000" b="1" dirty="0">
                <a:latin typeface="Segoe UI"/>
                <a:ea typeface="Calibri"/>
                <a:cs typeface="Segoe UI"/>
              </a:rPr>
            </a:br>
            <a:r>
              <a:rPr lang="en-US" sz="2000" b="1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 Faced multiple </a:t>
            </a:r>
            <a:r>
              <a:rPr lang="en-US" sz="2000" dirty="0">
                <a:solidFill>
                  <a:schemeClr val="bg1"/>
                </a:solidFill>
                <a:latin typeface="Consolas"/>
                <a:ea typeface="Calibri"/>
                <a:cs typeface="Calibri"/>
              </a:rPr>
              <a:t>NullPointerException</a:t>
            </a:r>
            <a:r>
              <a:rPr lang="en-US" sz="2000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 because WebDriver and POM were not initialized in correct order.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2000" dirty="0">
              <a:solidFill>
                <a:schemeClr val="bg1"/>
              </a:solidFill>
              <a:latin typeface="Segoe UI"/>
              <a:ea typeface="Calibri"/>
              <a:cs typeface="Segoe UI"/>
            </a:endParaRPr>
          </a:p>
          <a:p>
            <a:pPr algn="l">
              <a:buFont typeface="Arial"/>
              <a:buChar char="•"/>
            </a:pPr>
            <a:r>
              <a:rPr lang="en-US" sz="2300" b="1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 Cucumber Step &amp; POM Mismatches</a:t>
            </a:r>
            <a:br>
              <a:rPr lang="en-US" sz="2000" b="1" dirty="0">
                <a:latin typeface="Segoe UI"/>
                <a:ea typeface="Calibri"/>
                <a:cs typeface="Segoe UI"/>
              </a:rPr>
            </a:br>
            <a:r>
              <a:rPr lang="en-US" sz="2000" b="1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 Incorrect step parameters and wrong method mapping caused test failures.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2000" b="1" dirty="0">
              <a:solidFill>
                <a:schemeClr val="bg1"/>
              </a:solidFill>
              <a:latin typeface="Segoe UI"/>
              <a:ea typeface="Calibri"/>
              <a:cs typeface="Segoe UI"/>
            </a:endParaRPr>
          </a:p>
          <a:p>
            <a:pPr algn="l">
              <a:buFont typeface="Arial"/>
              <a:buChar char="•"/>
            </a:pPr>
            <a:r>
              <a:rPr lang="en-US" sz="2300" b="1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 Reporting &amp; Logging Setup Issues</a:t>
            </a:r>
            <a:br>
              <a:rPr lang="en-US" sz="2000" b="1" dirty="0">
                <a:latin typeface="Segoe UI"/>
                <a:ea typeface="Calibri"/>
                <a:cs typeface="Segoe UI"/>
              </a:rPr>
            </a:br>
            <a:r>
              <a:rPr lang="en-US" sz="2000" b="1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 Allure reports not generating and Log4j2 logs not appearing due to incorrect configuration.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2000" b="1" dirty="0">
              <a:solidFill>
                <a:schemeClr val="bg1"/>
              </a:solidFill>
              <a:latin typeface="Segoe UI"/>
              <a:ea typeface="Calibri"/>
              <a:cs typeface="Segoe UI"/>
            </a:endParaRPr>
          </a:p>
          <a:p>
            <a:pPr algn="l">
              <a:buFont typeface="Arial"/>
              <a:buChar char="•"/>
            </a:pPr>
            <a:r>
              <a:rPr lang="en-US" sz="2300" b="1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 Data &amp; Integration Challenge</a:t>
            </a:r>
            <a:r>
              <a:rPr lang="en-US" sz="2000" b="1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s</a:t>
            </a:r>
            <a:br>
              <a:rPr lang="en-US" sz="2000" b="1" dirty="0">
                <a:latin typeface="Segoe UI"/>
                <a:ea typeface="Calibri"/>
                <a:cs typeface="Segoe UI"/>
              </a:rPr>
            </a:br>
            <a:r>
              <a:rPr lang="en-US" sz="2000" b="1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 Handling date formats, test data inputs, and integrating CSV while keeping project stable.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US" sz="20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693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59795" y="736603"/>
            <a:ext cx="688467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spc="204" dirty="0"/>
              <a:t>Achievements</a:t>
            </a:r>
            <a:r>
              <a:rPr sz="4400" spc="-5" dirty="0"/>
              <a:t> </a:t>
            </a:r>
            <a:r>
              <a:rPr sz="4400" spc="-655" dirty="0"/>
              <a:t>&amp;</a:t>
            </a:r>
            <a:r>
              <a:rPr sz="4400" spc="10" dirty="0"/>
              <a:t> </a:t>
            </a:r>
            <a:r>
              <a:rPr sz="4400" spc="65" dirty="0"/>
              <a:t>Outcome</a:t>
            </a:r>
            <a:endParaRPr sz="4400"/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890" y="350084"/>
            <a:ext cx="2419350" cy="14859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540281" y="2856318"/>
            <a:ext cx="3940175" cy="3031856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120" dirty="0">
                <a:solidFill>
                  <a:srgbClr val="D5E4EE"/>
                </a:solidFill>
                <a:latin typeface="Palatino Linotype"/>
                <a:cs typeface="Palatino Linotype"/>
              </a:rPr>
              <a:t>Successful</a:t>
            </a:r>
            <a:r>
              <a:rPr sz="2150" spc="-20" dirty="0">
                <a:solidFill>
                  <a:srgbClr val="D5E4EE"/>
                </a:solidFill>
                <a:latin typeface="Palatino Linotype"/>
                <a:cs typeface="Palatino Linotype"/>
              </a:rPr>
              <a:t> </a:t>
            </a:r>
            <a:r>
              <a:rPr sz="2150" spc="65" dirty="0">
                <a:solidFill>
                  <a:srgbClr val="D5E4EE"/>
                </a:solidFill>
                <a:latin typeface="Palatino Linotype"/>
                <a:cs typeface="Palatino Linotype"/>
              </a:rPr>
              <a:t>Automation</a:t>
            </a:r>
            <a:endParaRPr sz="2150">
              <a:latin typeface="Palatino Linotype"/>
              <a:cs typeface="Palatino Linotype"/>
            </a:endParaRPr>
          </a:p>
          <a:p>
            <a:pPr marL="12700" marR="5080">
              <a:lnSpc>
                <a:spcPct val="143600"/>
              </a:lnSpc>
              <a:spcBef>
                <a:spcPts val="919"/>
              </a:spcBef>
            </a:pP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Automated</a:t>
            </a:r>
            <a:r>
              <a:rPr sz="1700" spc="10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booking</a:t>
            </a:r>
            <a:r>
              <a:rPr sz="1700" spc="12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workflow</a:t>
            </a:r>
            <a:r>
              <a:rPr sz="1700" spc="7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validated: </a:t>
            </a: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search</a:t>
            </a:r>
            <a:r>
              <a:rPr sz="1700" spc="11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20" dirty="0">
                <a:solidFill>
                  <a:srgbClr val="D5E4EE"/>
                </a:solidFill>
                <a:latin typeface="Trebuchet MS"/>
                <a:cs typeface="Trebuchet MS"/>
              </a:rPr>
              <a:t>'Goa',</a:t>
            </a:r>
            <a:r>
              <a:rPr sz="1700" spc="2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dates</a:t>
            </a:r>
            <a:r>
              <a:rPr sz="1700" spc="10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2026-03-</a:t>
            </a:r>
            <a:r>
              <a:rPr sz="1700" spc="80" dirty="0">
                <a:solidFill>
                  <a:srgbClr val="D5E4EE"/>
                </a:solidFill>
                <a:latin typeface="Trebuchet MS"/>
                <a:cs typeface="Trebuchet MS"/>
              </a:rPr>
              <a:t>10</a:t>
            </a:r>
            <a:r>
              <a:rPr sz="1700" spc="9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to</a:t>
            </a:r>
            <a:r>
              <a:rPr sz="1700" spc="8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2026-</a:t>
            </a:r>
            <a:endParaRPr sz="1700">
              <a:latin typeface="Trebuchet MS"/>
              <a:cs typeface="Trebuchet MS"/>
            </a:endParaRPr>
          </a:p>
          <a:p>
            <a:pPr marL="12700" marR="109855">
              <a:lnSpc>
                <a:spcPts val="2930"/>
              </a:lnSpc>
              <a:spcBef>
                <a:spcPts val="25"/>
              </a:spcBef>
            </a:pP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03-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12,scenario </a:t>
            </a:r>
            <a:r>
              <a:rPr sz="1700" spc="80" dirty="0">
                <a:solidFill>
                  <a:srgbClr val="D5E4EE"/>
                </a:solidFill>
                <a:latin typeface="Trebuchet MS"/>
                <a:cs typeface="Trebuchet MS"/>
              </a:rPr>
              <a:t>passed</a:t>
            </a:r>
            <a:r>
              <a:rPr sz="1700" spc="-7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in</a:t>
            </a:r>
            <a:r>
              <a:rPr sz="1700" spc="-5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120" dirty="0">
                <a:solidFill>
                  <a:srgbClr val="D5E4EE"/>
                </a:solidFill>
                <a:latin typeface="Trebuchet MS"/>
                <a:cs typeface="Trebuchet MS"/>
              </a:rPr>
              <a:t>45s</a:t>
            </a:r>
            <a:r>
              <a:rPr sz="1700" spc="-6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60" dirty="0">
                <a:solidFill>
                  <a:srgbClr val="D5E4EE"/>
                </a:solidFill>
                <a:latin typeface="Trebuchet MS"/>
                <a:cs typeface="Trebuchet MS"/>
              </a:rPr>
              <a:t>044ms.</a:t>
            </a:r>
          </a:p>
          <a:p>
            <a:pPr marL="12700" marR="109855">
              <a:lnSpc>
                <a:spcPts val="2930"/>
              </a:lnSpc>
              <a:spcBef>
                <a:spcPts val="25"/>
              </a:spcBef>
            </a:pPr>
            <a:endParaRPr lang="en-US" sz="1700" spc="60" dirty="0">
              <a:solidFill>
                <a:srgbClr val="D5E4EE"/>
              </a:solidFill>
              <a:latin typeface="Trebuchet MS"/>
              <a:cs typeface="Trebuchet MS"/>
            </a:endParaRPr>
          </a:p>
          <a:p>
            <a:pPr marL="298450" marR="109855" indent="-285750">
              <a:lnSpc>
                <a:spcPts val="2930"/>
              </a:lnSpc>
              <a:spcBef>
                <a:spcPts val="25"/>
              </a:spcBef>
              <a:buFont typeface="Arial"/>
              <a:buChar char="•"/>
            </a:pPr>
            <a:r>
              <a:rPr lang="en-US" sz="1700" spc="60" dirty="0">
                <a:solidFill>
                  <a:srgbClr val="D5E4EE"/>
                </a:solidFill>
              </a:rPr>
              <a:t>Search → Dates → Price filter → Validation with screenshots and logs.</a:t>
            </a:r>
            <a:endParaRPr lang="en-US" dirty="0"/>
          </a:p>
        </p:txBody>
      </p:sp>
      <p:pic>
        <p:nvPicPr>
          <p:cNvPr id="7" name="object 7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44456" y="3108273"/>
            <a:ext cx="3279254" cy="195059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523369" y="5389655"/>
            <a:ext cx="4017645" cy="1952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125" dirty="0">
                <a:solidFill>
                  <a:srgbClr val="D5E4EE"/>
                </a:solidFill>
                <a:latin typeface="Palatino Linotype"/>
                <a:cs typeface="Palatino Linotype"/>
              </a:rPr>
              <a:t>What</a:t>
            </a:r>
            <a:r>
              <a:rPr sz="2150" spc="-25" dirty="0">
                <a:solidFill>
                  <a:srgbClr val="D5E4EE"/>
                </a:solidFill>
                <a:latin typeface="Palatino Linotype"/>
                <a:cs typeface="Palatino Linotype"/>
              </a:rPr>
              <a:t> </a:t>
            </a:r>
            <a:r>
              <a:rPr sz="2150" spc="125" dirty="0">
                <a:solidFill>
                  <a:srgbClr val="D5E4EE"/>
                </a:solidFill>
                <a:latin typeface="Palatino Linotype"/>
                <a:cs typeface="Palatino Linotype"/>
              </a:rPr>
              <a:t>We</a:t>
            </a:r>
            <a:r>
              <a:rPr sz="2150" dirty="0">
                <a:solidFill>
                  <a:srgbClr val="D5E4EE"/>
                </a:solidFill>
                <a:latin typeface="Palatino Linotype"/>
                <a:cs typeface="Palatino Linotype"/>
              </a:rPr>
              <a:t> </a:t>
            </a:r>
            <a:r>
              <a:rPr sz="2150" spc="70" dirty="0">
                <a:solidFill>
                  <a:srgbClr val="D5E4EE"/>
                </a:solidFill>
                <a:latin typeface="Palatino Linotype"/>
                <a:cs typeface="Palatino Linotype"/>
              </a:rPr>
              <a:t>Learned</a:t>
            </a:r>
            <a:endParaRPr sz="2150">
              <a:latin typeface="Palatino Linotype"/>
              <a:cs typeface="Palatino Linotype"/>
            </a:endParaRPr>
          </a:p>
          <a:p>
            <a:pPr marL="12700" marR="5080">
              <a:lnSpc>
                <a:spcPct val="142300"/>
              </a:lnSpc>
              <a:spcBef>
                <a:spcPts val="950"/>
              </a:spcBef>
            </a:pPr>
            <a:r>
              <a:rPr sz="1700" spc="55" dirty="0">
                <a:solidFill>
                  <a:srgbClr val="D5E4EE"/>
                </a:solidFill>
                <a:latin typeface="Trebuchet MS"/>
                <a:cs typeface="Trebuchet MS"/>
              </a:rPr>
              <a:t>XPath</a:t>
            </a:r>
            <a:r>
              <a:rPr sz="1700" spc="-9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D5E4EE"/>
                </a:solidFill>
                <a:latin typeface="Trebuchet MS"/>
                <a:cs typeface="Trebuchet MS"/>
              </a:rPr>
              <a:t>crafting,</a:t>
            </a:r>
            <a:r>
              <a:rPr sz="1700" spc="-9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170" dirty="0">
                <a:solidFill>
                  <a:srgbClr val="D5E4EE"/>
                </a:solidFill>
                <a:latin typeface="Trebuchet MS"/>
                <a:cs typeface="Trebuchet MS"/>
              </a:rPr>
              <a:t>POM</a:t>
            </a:r>
            <a:r>
              <a:rPr sz="1700" spc="-5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design,</a:t>
            </a:r>
            <a:r>
              <a:rPr sz="1700" spc="-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Cucumber </a:t>
            </a: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glue</a:t>
            </a:r>
            <a:r>
              <a:rPr sz="1700" spc="-5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D5E4EE"/>
                </a:solidFill>
                <a:latin typeface="Trebuchet MS"/>
                <a:cs typeface="Trebuchet MS"/>
              </a:rPr>
              <a:t>code,</a:t>
            </a:r>
            <a:r>
              <a:rPr sz="1700" spc="-7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55" dirty="0">
                <a:solidFill>
                  <a:srgbClr val="D5E4EE"/>
                </a:solidFill>
                <a:latin typeface="Trebuchet MS"/>
                <a:cs typeface="Trebuchet MS"/>
              </a:rPr>
              <a:t>TestNG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D5E4EE"/>
                </a:solidFill>
                <a:latin typeface="Trebuchet MS"/>
                <a:cs typeface="Trebuchet MS"/>
              </a:rPr>
              <a:t>execution,</a:t>
            </a:r>
            <a:r>
              <a:rPr sz="1700" spc="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Allure </a:t>
            </a:r>
            <a:r>
              <a:rPr sz="1700" spc="-20" dirty="0">
                <a:solidFill>
                  <a:srgbClr val="D5E4EE"/>
                </a:solidFill>
                <a:latin typeface="Trebuchet MS"/>
                <a:cs typeface="Trebuchet MS"/>
              </a:rPr>
              <a:t>generation,</a:t>
            </a:r>
            <a:r>
              <a:rPr sz="1700" spc="-2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log-driven</a:t>
            </a:r>
            <a:r>
              <a:rPr sz="1700" spc="5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debugging,</a:t>
            </a:r>
            <a:r>
              <a:rPr sz="1700" spc="-15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75" dirty="0">
                <a:solidFill>
                  <a:srgbClr val="D5E4EE"/>
                </a:solidFill>
                <a:latin typeface="Trebuchet MS"/>
                <a:cs typeface="Trebuchet MS"/>
              </a:rPr>
              <a:t>Maven </a:t>
            </a:r>
            <a:r>
              <a:rPr sz="1700" dirty="0">
                <a:solidFill>
                  <a:srgbClr val="D5E4EE"/>
                </a:solidFill>
                <a:latin typeface="Trebuchet MS"/>
                <a:cs typeface="Trebuchet MS"/>
              </a:rPr>
              <a:t>dependency</a:t>
            </a:r>
            <a:r>
              <a:rPr sz="1700" spc="100" dirty="0">
                <a:solidFill>
                  <a:srgbClr val="D5E4EE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D5E4EE"/>
                </a:solidFill>
                <a:latin typeface="Trebuchet MS"/>
                <a:cs typeface="Trebuchet MS"/>
              </a:rPr>
              <a:t>management.</a:t>
            </a:r>
            <a:endParaRPr sz="1700">
              <a:latin typeface="Trebuchet MS"/>
              <a:cs typeface="Trebuchet MS"/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B17573-94EF-9723-6E46-A0CF3C136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" y="3111552"/>
            <a:ext cx="6191250" cy="5124450"/>
          </a:xfrm>
          <a:prstGeom prst="rect">
            <a:avLst/>
          </a:prstGeom>
        </p:spPr>
      </p:pic>
      <p:sp>
        <p:nvSpPr>
          <p:cNvPr id="12" name="object 2" descr="$PPTXTitle">
            <a:extLst>
              <a:ext uri="{FF2B5EF4-FFF2-40B4-BE49-F238E27FC236}">
                <a16:creationId xmlns:a16="http://schemas.microsoft.com/office/drawing/2014/main" id="{372879A2-B5AF-CBFE-B7E7-1A740149A8CE}"/>
              </a:ext>
            </a:extLst>
          </p:cNvPr>
          <p:cNvSpPr txBox="1">
            <a:spLocks/>
          </p:cNvSpPr>
          <p:nvPr/>
        </p:nvSpPr>
        <p:spPr>
          <a:xfrm>
            <a:off x="304497" y="2148177"/>
            <a:ext cx="4141470" cy="701040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>
            <a:lvl1pPr>
              <a:defRPr sz="4200" b="0" i="0">
                <a:solidFill>
                  <a:srgbClr val="76B8FF"/>
                </a:solidFill>
                <a:latin typeface="Palatino Linotype"/>
                <a:ea typeface="+mj-ea"/>
                <a:cs typeface="Palatino Linotype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US" sz="4400" spc="204" dirty="0">
                <a:solidFill>
                  <a:schemeClr val="bg1"/>
                </a:solidFill>
              </a:rPr>
              <a:t>Final </a:t>
            </a:r>
            <a:r>
              <a:rPr lang="en-US" sz="4400" spc="65" dirty="0">
                <a:solidFill>
                  <a:schemeClr val="bg1"/>
                </a:solidFill>
              </a:rPr>
              <a:t>Outcome</a:t>
            </a:r>
            <a:endParaRPr lang="en-US" sz="4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4FAB8-E354-B30F-A38D-A53AAE4C1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665" y="3103440"/>
            <a:ext cx="9374895" cy="1477328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9600" dirty="0"/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4164187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Booking Website Automation Framework</vt:lpstr>
      <vt:lpstr>Project Objective</vt:lpstr>
      <vt:lpstr>Tools &amp; Technologies</vt:lpstr>
      <vt:lpstr>Framework Architecture</vt:lpstr>
      <vt:lpstr>Cucumber : Feature &amp; Scenario</vt:lpstr>
      <vt:lpstr>Page Object Model (POM)</vt:lpstr>
      <vt:lpstr>Step Definitions &amp; Hooks</vt:lpstr>
      <vt:lpstr>Allure Reporting</vt:lpstr>
      <vt:lpstr>Allure Report: Screenshot For Success Case:</vt:lpstr>
      <vt:lpstr>Logging with Log4j2</vt:lpstr>
      <vt:lpstr>Problem Faces during this project:</vt:lpstr>
      <vt:lpstr>Achievements &amp; Outcome</vt:lpstr>
      <vt:lpstr>Thank You 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239</cp:revision>
  <dcterms:created xsi:type="dcterms:W3CDTF">2026-02-14T04:55:17Z</dcterms:created>
  <dcterms:modified xsi:type="dcterms:W3CDTF">2026-02-14T06:30:49Z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2026-02-14T00:00:00Z</vt:filetime>
  </property>
  <property fmtid="{D5CDD505-2E9C-101B-9397-08002B2CF9AE}" pid="3" name="LastSaved">
    <vt:filetime>2026-02-14T00:00:00Z</vt:filetime>
  </property>
</Properties>
</file>